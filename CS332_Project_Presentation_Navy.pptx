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윤고딕" panose="020B0600000101010101" charset="-127"/>
      <p:regular r:id="rId12"/>
    </p:embeddedFont>
    <p:embeddedFont>
      <p:font typeface="Garet Light" panose="020B0600000101010101" charset="0"/>
      <p:regular r:id="rId13"/>
    </p:embeddedFont>
    <p:embeddedFont>
      <p:font typeface="Glacial Indifference" panose="020B0600000101010101" charset="0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80ACF-771A-42F8-8828-7DB254F7E161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23270-F81C-4C3D-B6EA-D56E8B90D3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7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742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Worker </a:t>
            </a:r>
            <a:r>
              <a:rPr lang="ko-KR" altLang="en-US" dirty="0"/>
              <a:t>관점에서 문제가 발생했을 때 </a:t>
            </a:r>
            <a:r>
              <a:rPr lang="en-US" altLang="ko-KR" dirty="0"/>
              <a:t>master</a:t>
            </a:r>
            <a:r>
              <a:rPr lang="ko-KR" altLang="en-US" dirty="0"/>
              <a:t>만 호출하면 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110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07948" y="2792358"/>
            <a:ext cx="10272104" cy="303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10368" spc="-10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Progress Presentation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2038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Navy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6557" y="8710857"/>
            <a:ext cx="4172743" cy="547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박민혁, 이준엽, 이현수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90575"/>
            <a:ext cx="38811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Navy Team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108" y="944123"/>
            <a:ext cx="3104115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Our plan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758166" y="3721851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1~2: Midterm &amp; Planning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8166" y="4965182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3~5: Study &amp;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8166" y="6208514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6: 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8166" y="7451845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7~8: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4463094" cy="9525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4463094" y="2406367"/>
            <a:ext cx="5459632" cy="5414881"/>
          </a:xfrm>
          <a:custGeom>
            <a:avLst/>
            <a:gdLst/>
            <a:ahLst/>
            <a:cxnLst/>
            <a:rect l="l" t="t" r="r" b="b"/>
            <a:pathLst>
              <a:path w="5459632" h="5414881">
                <a:moveTo>
                  <a:pt x="0" y="0"/>
                </a:moveTo>
                <a:lnTo>
                  <a:pt x="5459632" y="0"/>
                </a:lnTo>
                <a:lnTo>
                  <a:pt x="5459632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0426093" y="2165680"/>
            <a:ext cx="3079360" cy="5887162"/>
          </a:xfrm>
          <a:custGeom>
            <a:avLst/>
            <a:gdLst/>
            <a:ahLst/>
            <a:cxnLst/>
            <a:rect l="l" t="t" r="r" b="b"/>
            <a:pathLst>
              <a:path w="3079360" h="5887162">
                <a:moveTo>
                  <a:pt x="0" y="0"/>
                </a:moveTo>
                <a:lnTo>
                  <a:pt x="3079360" y="0"/>
                </a:lnTo>
                <a:lnTo>
                  <a:pt x="3079360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8465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722547" y="2376674"/>
            <a:ext cx="2740547" cy="5474267"/>
          </a:xfrm>
          <a:custGeom>
            <a:avLst/>
            <a:gdLst/>
            <a:ahLst/>
            <a:cxnLst/>
            <a:rect l="l" t="t" r="r" b="b"/>
            <a:pathLst>
              <a:path w="2740547" h="5474267">
                <a:moveTo>
                  <a:pt x="0" y="0"/>
                </a:moveTo>
                <a:lnTo>
                  <a:pt x="2740547" y="0"/>
                </a:lnTo>
                <a:lnTo>
                  <a:pt x="2740547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2252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4010278" y="2165680"/>
            <a:ext cx="3844526" cy="5878070"/>
          </a:xfrm>
          <a:custGeom>
            <a:avLst/>
            <a:gdLst/>
            <a:ahLst/>
            <a:cxnLst/>
            <a:rect l="l" t="t" r="r" b="b"/>
            <a:pathLst>
              <a:path w="3844526" h="5878070">
                <a:moveTo>
                  <a:pt x="0" y="0"/>
                </a:moveTo>
                <a:lnTo>
                  <a:pt x="3844526" y="0"/>
                </a:lnTo>
                <a:lnTo>
                  <a:pt x="3844526" y="5878070"/>
                </a:lnTo>
                <a:lnTo>
                  <a:pt x="0" y="587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269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3378146" y="790575"/>
            <a:ext cx="388115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Navy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944123"/>
            <a:ext cx="446309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How we worked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49C3-A872-02A1-0D03-46F8CC16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  <a:endParaRPr lang="en-KR" dirty="0"/>
          </a:p>
        </p:txBody>
      </p:sp>
      <p:pic>
        <p:nvPicPr>
          <p:cNvPr id="5" name="Graphic 4" descr="Crown with solid fill">
            <a:extLst>
              <a:ext uri="{FF2B5EF4-FFF2-40B4-BE49-F238E27FC236}">
                <a16:creationId xmlns:a16="http://schemas.microsoft.com/office/drawing/2014/main" id="{C44B1878-4738-1638-A41B-5061EB576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200" y="1541859"/>
            <a:ext cx="1371600" cy="137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C5E866-3723-1971-925E-6FD119AA167F}"/>
              </a:ext>
            </a:extLst>
          </p:cNvPr>
          <p:cNvSpPr/>
          <p:nvPr/>
        </p:nvSpPr>
        <p:spPr>
          <a:xfrm>
            <a:off x="2422733" y="569150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9701C-E5CB-A7CA-315E-C990A29067CA}"/>
              </a:ext>
            </a:extLst>
          </p:cNvPr>
          <p:cNvSpPr/>
          <p:nvPr/>
        </p:nvSpPr>
        <p:spPr>
          <a:xfrm>
            <a:off x="2422732" y="674049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3E9FE4-69D7-5108-010A-AF1090DBE232}"/>
              </a:ext>
            </a:extLst>
          </p:cNvPr>
          <p:cNvSpPr/>
          <p:nvPr/>
        </p:nvSpPr>
        <p:spPr>
          <a:xfrm>
            <a:off x="2422730" y="7789493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4108BD-1559-E692-B373-1C0D579D173E}"/>
              </a:ext>
            </a:extLst>
          </p:cNvPr>
          <p:cNvSpPr/>
          <p:nvPr/>
        </p:nvSpPr>
        <p:spPr>
          <a:xfrm>
            <a:off x="2006122" y="5171807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91076-E554-6F88-A483-1504060396B9}"/>
              </a:ext>
            </a:extLst>
          </p:cNvPr>
          <p:cNvSpPr/>
          <p:nvPr/>
        </p:nvSpPr>
        <p:spPr>
          <a:xfrm>
            <a:off x="5650907" y="5663194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39CD2-8471-0AE0-B0BE-0F00E952CDBC}"/>
              </a:ext>
            </a:extLst>
          </p:cNvPr>
          <p:cNvSpPr/>
          <p:nvPr/>
        </p:nvSpPr>
        <p:spPr>
          <a:xfrm>
            <a:off x="5650906" y="671219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0EF08-2BC7-0FFA-C067-8C230D61634A}"/>
              </a:ext>
            </a:extLst>
          </p:cNvPr>
          <p:cNvSpPr/>
          <p:nvPr/>
        </p:nvSpPr>
        <p:spPr>
          <a:xfrm>
            <a:off x="5650904" y="776118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2C55DF-0D4C-E3BB-3352-A9DE156EEC89}"/>
              </a:ext>
            </a:extLst>
          </p:cNvPr>
          <p:cNvSpPr/>
          <p:nvPr/>
        </p:nvSpPr>
        <p:spPr>
          <a:xfrm>
            <a:off x="5234296" y="5143501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6D740-1E65-757E-FEB8-85D3C6CFBEDD}"/>
              </a:ext>
            </a:extLst>
          </p:cNvPr>
          <p:cNvSpPr/>
          <p:nvPr/>
        </p:nvSpPr>
        <p:spPr>
          <a:xfrm>
            <a:off x="14275759" y="569150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23106-2EFC-EE14-3F9F-363D35B1863E}"/>
              </a:ext>
            </a:extLst>
          </p:cNvPr>
          <p:cNvSpPr/>
          <p:nvPr/>
        </p:nvSpPr>
        <p:spPr>
          <a:xfrm>
            <a:off x="14275757" y="674049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CB4D1-9E07-D34E-E61F-A5D956240E0B}"/>
              </a:ext>
            </a:extLst>
          </p:cNvPr>
          <p:cNvSpPr/>
          <p:nvPr/>
        </p:nvSpPr>
        <p:spPr>
          <a:xfrm>
            <a:off x="14275756" y="7789493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A300E0-A8DD-F250-2404-2EE17C0AC6E5}"/>
              </a:ext>
            </a:extLst>
          </p:cNvPr>
          <p:cNvSpPr/>
          <p:nvPr/>
        </p:nvSpPr>
        <p:spPr>
          <a:xfrm>
            <a:off x="13859147" y="5171807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ED6FD-3B33-156A-F374-2B4C6E1292B7}"/>
              </a:ext>
            </a:extLst>
          </p:cNvPr>
          <p:cNvSpPr txBox="1"/>
          <p:nvPr/>
        </p:nvSpPr>
        <p:spPr>
          <a:xfrm>
            <a:off x="10471710" y="6197182"/>
            <a:ext cx="4235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84C4B-DA12-07A0-3A50-F33E3D88900C}"/>
              </a:ext>
            </a:extLst>
          </p:cNvPr>
          <p:cNvSpPr txBox="1"/>
          <p:nvPr/>
        </p:nvSpPr>
        <p:spPr>
          <a:xfrm>
            <a:off x="2481275" y="4630157"/>
            <a:ext cx="13437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27A12-6719-B5F7-4437-C6D41B134FD1}"/>
              </a:ext>
            </a:extLst>
          </p:cNvPr>
          <p:cNvSpPr txBox="1"/>
          <p:nvPr/>
        </p:nvSpPr>
        <p:spPr>
          <a:xfrm>
            <a:off x="5709449" y="4639052"/>
            <a:ext cx="13437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B3D8F-1516-1522-8E30-DF4B590D5C62}"/>
              </a:ext>
            </a:extLst>
          </p:cNvPr>
          <p:cNvSpPr txBox="1"/>
          <p:nvPr/>
        </p:nvSpPr>
        <p:spPr>
          <a:xfrm>
            <a:off x="14334304" y="4630157"/>
            <a:ext cx="15184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515051-8C64-ED2A-16CC-9EE4BD95B717}"/>
              </a:ext>
            </a:extLst>
          </p:cNvPr>
          <p:cNvCxnSpPr>
            <a:endCxn id="19" idx="0"/>
          </p:cNvCxnSpPr>
          <p:nvPr/>
        </p:nvCxnSpPr>
        <p:spPr>
          <a:xfrm flipH="1">
            <a:off x="3153126" y="2913460"/>
            <a:ext cx="5990874" cy="17166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8D8B6F-F970-9772-182D-CCA2DDA4B1D0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6381300" y="2913460"/>
            <a:ext cx="2762700" cy="1725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9B50C4-9AA9-8543-837A-D3C7CF2EFA1B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144001" y="2918764"/>
            <a:ext cx="5949518" cy="17113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F2005E-BDF9-91A1-F8B3-CE3DCED06F9F}"/>
              </a:ext>
            </a:extLst>
          </p:cNvPr>
          <p:cNvSpPr txBox="1"/>
          <p:nvPr/>
        </p:nvSpPr>
        <p:spPr>
          <a:xfrm>
            <a:off x="10471710" y="2086328"/>
            <a:ext cx="621351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step1</a:t>
            </a:r>
            <a:r>
              <a:rPr lang="en-KR" sz="2700" b="1" dirty="0"/>
              <a:t>. </a:t>
            </a:r>
            <a:r>
              <a:rPr lang="en-KR" sz="2700" dirty="0"/>
              <a:t>master samples some data </a:t>
            </a:r>
            <a:r>
              <a:rPr lang="en-US" sz="2700" dirty="0"/>
              <a:t>from workers and determines the key range each worker will be responsible for</a:t>
            </a:r>
            <a:endParaRPr lang="en-KR" sz="2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1F137-54C1-DD4D-D723-53339121144E}"/>
              </a:ext>
            </a:extLst>
          </p:cNvPr>
          <p:cNvSpPr txBox="1"/>
          <p:nvPr/>
        </p:nvSpPr>
        <p:spPr>
          <a:xfrm>
            <a:off x="8458200" y="1311784"/>
            <a:ext cx="116128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master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223EE-3E22-4796-F964-2FD19111A6B4}"/>
              </a:ext>
            </a:extLst>
          </p:cNvPr>
          <p:cNvSpPr txBox="1"/>
          <p:nvPr/>
        </p:nvSpPr>
        <p:spPr>
          <a:xfrm>
            <a:off x="830486" y="2633584"/>
            <a:ext cx="62135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step2</a:t>
            </a:r>
            <a:r>
              <a:rPr lang="en-KR" sz="2700" b="1" dirty="0"/>
              <a:t>. </a:t>
            </a:r>
            <a:r>
              <a:rPr lang="en-US" sz="2700" dirty="0"/>
              <a:t>each worker splits its local data into chunks, sorts it, and then partitions the sorted data according to the global key ranges</a:t>
            </a:r>
            <a:endParaRPr lang="en-KR" sz="27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934F2B-F68E-FEBE-0D8D-A0D4DBF9ABA6}"/>
              </a:ext>
            </a:extLst>
          </p:cNvPr>
          <p:cNvCxnSpPr>
            <a:cxnSpLocks/>
          </p:cNvCxnSpPr>
          <p:nvPr/>
        </p:nvCxnSpPr>
        <p:spPr>
          <a:xfrm>
            <a:off x="9791836" y="6030720"/>
            <a:ext cx="1723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BE3DDC-5E0C-759D-5194-240496091A20}"/>
              </a:ext>
            </a:extLst>
          </p:cNvPr>
          <p:cNvCxnSpPr>
            <a:cxnSpLocks/>
          </p:cNvCxnSpPr>
          <p:nvPr/>
        </p:nvCxnSpPr>
        <p:spPr>
          <a:xfrm flipH="1">
            <a:off x="9774427" y="6197181"/>
            <a:ext cx="1741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8AA17C-CDAA-A9E6-DD85-52F156F8C0ED}"/>
              </a:ext>
            </a:extLst>
          </p:cNvPr>
          <p:cNvSpPr txBox="1"/>
          <p:nvPr/>
        </p:nvSpPr>
        <p:spPr>
          <a:xfrm>
            <a:off x="8208022" y="5038347"/>
            <a:ext cx="5100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step3</a:t>
            </a:r>
            <a:r>
              <a:rPr lang="en-KR" sz="2700" b="1" dirty="0"/>
              <a:t>.</a:t>
            </a:r>
            <a:r>
              <a:rPr lang="en-US" sz="2700" dirty="0"/>
              <a:t> workers exchanged the partitioned data with each other</a:t>
            </a:r>
            <a:endParaRPr lang="en-KR" sz="27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71CA2B-182B-AAB3-112E-C03D8A83D1EF}"/>
              </a:ext>
            </a:extLst>
          </p:cNvPr>
          <p:cNvSpPr txBox="1"/>
          <p:nvPr/>
        </p:nvSpPr>
        <p:spPr>
          <a:xfrm>
            <a:off x="8156063" y="7223579"/>
            <a:ext cx="6213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step4</a:t>
            </a:r>
            <a:r>
              <a:rPr lang="en-KR" sz="2700" b="1" dirty="0"/>
              <a:t>. </a:t>
            </a:r>
            <a:r>
              <a:rPr lang="en-US" sz="2700" dirty="0"/>
              <a:t>each worker merge the data sorted in their own disk</a:t>
            </a:r>
            <a:endParaRPr lang="en-KR" sz="2700" dirty="0"/>
          </a:p>
        </p:txBody>
      </p:sp>
    </p:spTree>
    <p:extLst>
      <p:ext uri="{BB962C8B-B14F-4D97-AF65-F5344CB8AC3E}">
        <p14:creationId xmlns:p14="http://schemas.microsoft.com/office/powerpoint/2010/main" val="7327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7A2B09-A077-66D3-83EA-04DC78053BED}"/>
              </a:ext>
            </a:extLst>
          </p:cNvPr>
          <p:cNvSpPr/>
          <p:nvPr/>
        </p:nvSpPr>
        <p:spPr>
          <a:xfrm>
            <a:off x="1257301" y="4149328"/>
            <a:ext cx="4085561" cy="1988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/>
              <a:t>master</a:t>
            </a:r>
            <a:endParaRPr lang="en-KR" sz="27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33CDAD-A31F-82A2-A71F-6CB23300E86B}"/>
              </a:ext>
            </a:extLst>
          </p:cNvPr>
          <p:cNvSpPr/>
          <p:nvPr/>
        </p:nvSpPr>
        <p:spPr>
          <a:xfrm>
            <a:off x="12998305" y="1456937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24500F-2AF6-F6AB-42B0-7E63468E9EC0}"/>
              </a:ext>
            </a:extLst>
          </p:cNvPr>
          <p:cNvSpPr/>
          <p:nvPr/>
        </p:nvSpPr>
        <p:spPr>
          <a:xfrm>
            <a:off x="12998305" y="405897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16FFEC-0135-EEB7-FB26-7CD9B2549F4E}"/>
              </a:ext>
            </a:extLst>
          </p:cNvPr>
          <p:cNvSpPr/>
          <p:nvPr/>
        </p:nvSpPr>
        <p:spPr>
          <a:xfrm>
            <a:off x="12998305" y="702839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4FBF5B-AF0E-CBA0-7A51-A1C3D8807338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>
            <a:off x="5342861" y="2541458"/>
            <a:ext cx="7655444" cy="26020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B72394-EE8A-ACC3-2DEE-942A89B21874}"/>
              </a:ext>
            </a:extLst>
          </p:cNvPr>
          <p:cNvSpPr txBox="1"/>
          <p:nvPr/>
        </p:nvSpPr>
        <p:spPr>
          <a:xfrm>
            <a:off x="5952453" y="2672357"/>
            <a:ext cx="5992346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1. Register each worker’s </a:t>
            </a:r>
            <a:r>
              <a:rPr lang="en-US" sz="2700" dirty="0" err="1">
                <a:solidFill>
                  <a:srgbClr val="FF0000"/>
                </a:solidFill>
              </a:rPr>
              <a:t>ip</a:t>
            </a:r>
            <a:r>
              <a:rPr lang="en-US" sz="2700" dirty="0">
                <a:solidFill>
                  <a:srgbClr val="FF0000"/>
                </a:solidFill>
              </a:rPr>
              <a:t> to the master</a:t>
            </a:r>
            <a:endParaRPr lang="en-KR" sz="27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0E410A-174E-75B3-E8C5-DF91797A78CE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5342861" y="5143497"/>
            <a:ext cx="7655444" cy="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DD90A9-0B24-0CC9-1398-E57F2544EE4A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flipH="1" flipV="1">
            <a:off x="5342861" y="5143500"/>
            <a:ext cx="7655444" cy="29694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525031-2A82-3EF2-2FBD-9DBC147371A3}"/>
              </a:ext>
            </a:extLst>
          </p:cNvPr>
          <p:cNvSpPr txBox="1"/>
          <p:nvPr/>
        </p:nvSpPr>
        <p:spPr>
          <a:xfrm>
            <a:off x="6540502" y="6759589"/>
            <a:ext cx="29590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accent3"/>
                </a:solidFill>
              </a:rPr>
              <a:t>3. Sampling request</a:t>
            </a:r>
            <a:endParaRPr lang="en-KR" sz="2700" dirty="0">
              <a:solidFill>
                <a:schemeClr val="accent3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67C8A-22F3-AFA3-2B85-E63E63F501E0}"/>
              </a:ext>
            </a:extLst>
          </p:cNvPr>
          <p:cNvCxnSpPr>
            <a:stCxn id="4" idx="3"/>
            <a:endCxn id="6" idx="2"/>
          </p:cNvCxnSpPr>
          <p:nvPr/>
        </p:nvCxnSpPr>
        <p:spPr>
          <a:xfrm flipV="1">
            <a:off x="5342861" y="5143499"/>
            <a:ext cx="765544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B1FBD-EDFB-D877-8C0A-969FD79EA800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342861" y="2541458"/>
            <a:ext cx="7655444" cy="260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285959-9533-6B1C-2441-64A54C1A5A74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5342861" y="5143500"/>
            <a:ext cx="7655444" cy="29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D7C031-471F-B9D5-179D-CD64D6883C2F}"/>
              </a:ext>
            </a:extLst>
          </p:cNvPr>
          <p:cNvSpPr txBox="1"/>
          <p:nvPr/>
        </p:nvSpPr>
        <p:spPr>
          <a:xfrm>
            <a:off x="7107902" y="5259047"/>
            <a:ext cx="433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700" dirty="0">
                <a:solidFill>
                  <a:schemeClr val="tx2"/>
                </a:solidFill>
              </a:rPr>
              <a:t>2. </a:t>
            </a:r>
            <a:r>
              <a:rPr lang="en-US" sz="2700" dirty="0">
                <a:solidFill>
                  <a:schemeClr val="tx2"/>
                </a:solidFill>
              </a:rPr>
              <a:t>G</a:t>
            </a:r>
            <a:r>
              <a:rPr lang="en-KR" sz="2700" dirty="0">
                <a:solidFill>
                  <a:schemeClr val="tx2"/>
                </a:solidFill>
              </a:rPr>
              <a:t>ather the all I</a:t>
            </a:r>
            <a:r>
              <a:rPr lang="en-US" sz="2700" dirty="0">
                <a:solidFill>
                  <a:schemeClr val="tx2"/>
                </a:solidFill>
              </a:rPr>
              <a:t>p</a:t>
            </a:r>
            <a:r>
              <a:rPr lang="en-KR" sz="2700" dirty="0">
                <a:solidFill>
                  <a:schemeClr val="tx2"/>
                </a:solidFill>
              </a:rPr>
              <a:t>s and send them back to all workers</a:t>
            </a: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AA5A5780-9CAF-1E8E-AEB7-D0559EDDEAD3}"/>
              </a:ext>
            </a:extLst>
          </p:cNvPr>
          <p:cNvSpPr/>
          <p:nvPr/>
        </p:nvSpPr>
        <p:spPr>
          <a:xfrm rot="4131090">
            <a:off x="9699885" y="2724877"/>
            <a:ext cx="448599" cy="2633144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3F677DFB-A41B-F876-467E-6BE1D644F744}"/>
              </a:ext>
            </a:extLst>
          </p:cNvPr>
          <p:cNvSpPr/>
          <p:nvPr/>
        </p:nvSpPr>
        <p:spPr>
          <a:xfrm rot="5400000">
            <a:off x="9733674" y="4288975"/>
            <a:ext cx="448599" cy="2567270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551D02D0-D4DE-E264-D584-D9E17D1AFED7}"/>
              </a:ext>
            </a:extLst>
          </p:cNvPr>
          <p:cNvSpPr/>
          <p:nvPr/>
        </p:nvSpPr>
        <p:spPr>
          <a:xfrm rot="6659656">
            <a:off x="9631412" y="5365082"/>
            <a:ext cx="448599" cy="2358593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881BE5-96A6-1D21-056F-51D4E112AAFB}"/>
              </a:ext>
            </a:extLst>
          </p:cNvPr>
          <p:cNvSpPr txBox="1"/>
          <p:nvPr/>
        </p:nvSpPr>
        <p:spPr>
          <a:xfrm>
            <a:off x="9104777" y="4448644"/>
            <a:ext cx="340888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>
                <a:solidFill>
                  <a:schemeClr val="accent4"/>
                </a:solidFill>
              </a:rPr>
              <a:t>4. return sample datas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8AA5E9-F3BA-F59A-BF1F-54AD66387ACF}"/>
              </a:ext>
            </a:extLst>
          </p:cNvPr>
          <p:cNvSpPr txBox="1"/>
          <p:nvPr/>
        </p:nvSpPr>
        <p:spPr>
          <a:xfrm>
            <a:off x="1295536" y="6294297"/>
            <a:ext cx="425266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700" dirty="0"/>
              <a:t>4. </a:t>
            </a:r>
            <a:r>
              <a:rPr lang="en-US" sz="2700" dirty="0"/>
              <a:t>C</a:t>
            </a:r>
            <a:r>
              <a:rPr lang="en-KR" sz="2700" dirty="0"/>
              <a:t>alculate each key range </a:t>
            </a:r>
            <a:r>
              <a:rPr lang="en-US" sz="2700" dirty="0"/>
              <a:t>and send them back to each worker</a:t>
            </a:r>
            <a:endParaRPr lang="en-KR" sz="27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AE372D-D298-DFF2-3DFB-FEBA13438E9A}"/>
              </a:ext>
            </a:extLst>
          </p:cNvPr>
          <p:cNvSpPr txBox="1"/>
          <p:nvPr/>
        </p:nvSpPr>
        <p:spPr>
          <a:xfrm>
            <a:off x="14035337" y="4794311"/>
            <a:ext cx="42526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700" dirty="0">
                <a:solidFill>
                  <a:schemeClr val="accent5"/>
                </a:solidFill>
              </a:rPr>
              <a:t>5. sorting</a:t>
            </a:r>
            <a:endParaRPr lang="en-KR" sz="2700" dirty="0">
              <a:solidFill>
                <a:schemeClr val="accent5"/>
              </a:solidFill>
            </a:endParaRPr>
          </a:p>
        </p:txBody>
      </p:sp>
      <p:sp>
        <p:nvSpPr>
          <p:cNvPr id="45" name="Up-Down Arrow 44">
            <a:extLst>
              <a:ext uri="{FF2B5EF4-FFF2-40B4-BE49-F238E27FC236}">
                <a16:creationId xmlns:a16="http://schemas.microsoft.com/office/drawing/2014/main" id="{2DA282A3-00B8-E103-CD57-4AB010E1CB7A}"/>
              </a:ext>
            </a:extLst>
          </p:cNvPr>
          <p:cNvSpPr/>
          <p:nvPr/>
        </p:nvSpPr>
        <p:spPr>
          <a:xfrm>
            <a:off x="13891187" y="3231332"/>
            <a:ext cx="383274" cy="122228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6" name="Up-Down Arrow 45">
            <a:extLst>
              <a:ext uri="{FF2B5EF4-FFF2-40B4-BE49-F238E27FC236}">
                <a16:creationId xmlns:a16="http://schemas.microsoft.com/office/drawing/2014/main" id="{43BA9531-4ACE-338A-5D93-9B061A6C2E4B}"/>
              </a:ext>
            </a:extLst>
          </p:cNvPr>
          <p:cNvSpPr/>
          <p:nvPr/>
        </p:nvSpPr>
        <p:spPr>
          <a:xfrm>
            <a:off x="13891187" y="6033059"/>
            <a:ext cx="383274" cy="122228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95C8EAC9-06E0-99E8-6118-051DB104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Overall Flow</a:t>
            </a:r>
          </a:p>
        </p:txBody>
      </p:sp>
    </p:spTree>
    <p:extLst>
      <p:ext uri="{BB962C8B-B14F-4D97-AF65-F5344CB8AC3E}">
        <p14:creationId xmlns:p14="http://schemas.microsoft.com/office/powerpoint/2010/main" val="20625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31" grpId="0"/>
      <p:bldP spid="38" grpId="0" animBg="1"/>
      <p:bldP spid="39" grpId="0" animBg="1"/>
      <p:bldP spid="40" grpId="0" animBg="1"/>
      <p:bldP spid="41" grpId="0"/>
      <p:bldP spid="42" grpId="0"/>
      <p:bldP spid="43" grpId="0"/>
      <p:bldP spid="43" grpId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7098-D80E-6CAD-CCFE-CAD2AE2D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</a:t>
            </a:r>
            <a:r>
              <a:rPr lang="en-US" dirty="0"/>
              <a:t>Design - abstraction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E0A4-426C-B247-A31B-0E1C66B33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Master – Worker </a:t>
            </a:r>
            <a:r>
              <a:rPr lang="en-US" dirty="0"/>
              <a:t>= </a:t>
            </a:r>
            <a:r>
              <a:rPr lang="en-US" i="1" dirty="0"/>
              <a:t>kernel – user program</a:t>
            </a:r>
            <a:endParaRPr lang="en-KR" i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4A6F6E-92D9-568E-DCF7-CDBFAFD1874E}"/>
              </a:ext>
            </a:extLst>
          </p:cNvPr>
          <p:cNvSpPr/>
          <p:nvPr/>
        </p:nvSpPr>
        <p:spPr>
          <a:xfrm>
            <a:off x="1257301" y="5432029"/>
            <a:ext cx="4085561" cy="1988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/>
              <a:t>master</a:t>
            </a:r>
            <a:endParaRPr lang="en-KR" sz="27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20746D-7209-B86F-96C3-948D995EEC26}"/>
              </a:ext>
            </a:extLst>
          </p:cNvPr>
          <p:cNvSpPr/>
          <p:nvPr/>
        </p:nvSpPr>
        <p:spPr>
          <a:xfrm>
            <a:off x="12998305" y="273963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41653D-CEAB-5771-5DB6-7E118964A274}"/>
              </a:ext>
            </a:extLst>
          </p:cNvPr>
          <p:cNvCxnSpPr>
            <a:stCxn id="5" idx="2"/>
            <a:endCxn id="4" idx="3"/>
          </p:cNvCxnSpPr>
          <p:nvPr/>
        </p:nvCxnSpPr>
        <p:spPr>
          <a:xfrm flipH="1">
            <a:off x="5342861" y="3824159"/>
            <a:ext cx="7655444" cy="2602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5F18EF-2F2A-7193-E774-FFB39B17BB29}"/>
              </a:ext>
            </a:extLst>
          </p:cNvPr>
          <p:cNvSpPr txBox="1"/>
          <p:nvPr/>
        </p:nvSpPr>
        <p:spPr>
          <a:xfrm>
            <a:off x="7327901" y="4394201"/>
            <a:ext cx="27111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D</a:t>
            </a:r>
            <a:r>
              <a:rPr lang="en-KR" sz="2700" dirty="0"/>
              <a:t>isk overflow</a:t>
            </a:r>
          </a:p>
          <a:p>
            <a:r>
              <a:rPr lang="en-US" sz="2700" dirty="0"/>
              <a:t>M</a:t>
            </a:r>
            <a:r>
              <a:rPr lang="en-KR" sz="2700" dirty="0"/>
              <a:t>emory overflow</a:t>
            </a:r>
          </a:p>
          <a:p>
            <a:r>
              <a:rPr lang="en-US" sz="2700" dirty="0"/>
              <a:t>P</a:t>
            </a:r>
            <a:r>
              <a:rPr lang="en-KR" sz="2700" dirty="0"/>
              <a:t>rogram fail</a:t>
            </a:r>
          </a:p>
          <a:p>
            <a:r>
              <a:rPr lang="en-KR" sz="2700" dirty="0"/>
              <a:t>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C1770F-1604-4902-58F0-32BC1CF96020}"/>
              </a:ext>
            </a:extLst>
          </p:cNvPr>
          <p:cNvGraphicFramePr>
            <a:graphicFrameLocks noGrp="1"/>
          </p:cNvGraphicFramePr>
          <p:nvPr/>
        </p:nvGraphicFramePr>
        <p:xfrm>
          <a:off x="4483100" y="7070885"/>
          <a:ext cx="45339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3181962596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18780629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50637835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161519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669055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n</a:t>
                      </a:r>
                      <a:endParaRPr lang="en-KR" sz="2700" b="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54572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51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D3BF-D6DD-386D-201C-20F1F64D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Current </a:t>
            </a:r>
            <a:r>
              <a:rPr lang="en-US" dirty="0"/>
              <a:t>Progress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7AC7-2B64-344E-177B-270FEEDC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ZIO gRPC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DC192-1606-1289-A8DE-6EF3D3FC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3473349"/>
            <a:ext cx="9525000" cy="2528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068AF-411C-0B4A-0C0D-5978B3FE5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6180452"/>
            <a:ext cx="9525000" cy="248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90A9-16A9-4DAB-A330-65BA6E36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A58C-9E62-EAA8-A90E-F602DD59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33590-9F32-19CD-C3D4-C2CC91B6CEC1}"/>
              </a:ext>
            </a:extLst>
          </p:cNvPr>
          <p:cNvSpPr txBox="1"/>
          <p:nvPr/>
        </p:nvSpPr>
        <p:spPr>
          <a:xfrm>
            <a:off x="1046023" y="2695617"/>
            <a:ext cx="7653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error handling logic</a:t>
            </a:r>
            <a:endParaRPr lang="en-KR" sz="2700" b="1" dirty="0">
              <a:solidFill>
                <a:srgbClr val="FF0000"/>
              </a:solidFill>
            </a:endParaRP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B1ECC24-A3A0-8DFD-CEC8-97527AC06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22" y="3665114"/>
            <a:ext cx="8097978" cy="4031088"/>
          </a:xfrm>
          <a:prstGeom prst="rect">
            <a:avLst/>
          </a:prstGeom>
        </p:spPr>
      </p:pic>
      <p:pic>
        <p:nvPicPr>
          <p:cNvPr id="14" name="Picture 13" descr="A diagram of a workflow&#10;&#10;AI-generated content may be incorrect.">
            <a:extLst>
              <a:ext uri="{FF2B5EF4-FFF2-40B4-BE49-F238E27FC236}">
                <a16:creationId xmlns:a16="http://schemas.microsoft.com/office/drawing/2014/main" id="{E0AF1C67-3A71-A520-CD32-2880AB91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1" y="3673846"/>
            <a:ext cx="6845300" cy="36294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BC214-6920-1C12-583B-21EBEED1D4B1}"/>
              </a:ext>
            </a:extLst>
          </p:cNvPr>
          <p:cNvSpPr txBox="1"/>
          <p:nvPr/>
        </p:nvSpPr>
        <p:spPr>
          <a:xfrm>
            <a:off x="9732823" y="2695617"/>
            <a:ext cx="7653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sampling logic</a:t>
            </a:r>
            <a:endParaRPr lang="en-KR" sz="27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6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F56AD0E-7B14-F1B7-DAA2-34A034E509CC}"/>
              </a:ext>
            </a:extLst>
          </p:cNvPr>
          <p:cNvSpPr/>
          <p:nvPr/>
        </p:nvSpPr>
        <p:spPr>
          <a:xfrm>
            <a:off x="5583117" y="1527121"/>
            <a:ext cx="4239312" cy="303647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EB63CFC-CAA2-9E98-9495-52E356BC0F25}"/>
              </a:ext>
            </a:extLst>
          </p:cNvPr>
          <p:cNvSpPr/>
          <p:nvPr/>
        </p:nvSpPr>
        <p:spPr>
          <a:xfrm>
            <a:off x="10885286" y="1273108"/>
            <a:ext cx="4560936" cy="6823757"/>
          </a:xfrm>
          <a:prstGeom prst="roundRect">
            <a:avLst>
              <a:gd name="adj" fmla="val 890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BAE5D3-1CAC-029C-D557-9AFF299C803B}"/>
              </a:ext>
            </a:extLst>
          </p:cNvPr>
          <p:cNvSpPr/>
          <p:nvPr/>
        </p:nvSpPr>
        <p:spPr>
          <a:xfrm>
            <a:off x="4557113" y="680007"/>
            <a:ext cx="11739717" cy="781875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7467-D8B1-5AEB-954A-CDAFFEFAB05D}"/>
              </a:ext>
            </a:extLst>
          </p:cNvPr>
          <p:cNvSpPr txBox="1"/>
          <p:nvPr/>
        </p:nvSpPr>
        <p:spPr>
          <a:xfrm>
            <a:off x="9151235" y="307024"/>
            <a:ext cx="2551473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200" dirty="0">
                <a:latin typeface="Aptos Display" panose="020B0004020202020204" pitchFamily="34" charset="0"/>
              </a:rPr>
              <a:t>Worker 1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AED13-15D1-90A6-1540-9AA81355447C}"/>
              </a:ext>
            </a:extLst>
          </p:cNvPr>
          <p:cNvSpPr/>
          <p:nvPr/>
        </p:nvSpPr>
        <p:spPr>
          <a:xfrm>
            <a:off x="11247545" y="2081224"/>
            <a:ext cx="3836423" cy="14790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latin typeface="Aptos Display" panose="020B0004020202020204" pitchFamily="34" charset="0"/>
              </a:rPr>
              <a:t>Input data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CC956-1733-C218-2846-E5764CC01711}"/>
              </a:ext>
            </a:extLst>
          </p:cNvPr>
          <p:cNvSpPr txBox="1"/>
          <p:nvPr/>
        </p:nvSpPr>
        <p:spPr>
          <a:xfrm>
            <a:off x="12711065" y="1377818"/>
            <a:ext cx="8146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chemeClr val="bg1"/>
                </a:solidFill>
                <a:latin typeface="Aptos Display" panose="020B0004020202020204" pitchFamily="34" charset="0"/>
              </a:rPr>
              <a:t>disk</a:t>
            </a:r>
            <a:endParaRPr lang="ko-KR" altLang="en-US" sz="3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881D22-44EF-8992-6EDB-F1DF53DFF6BB}"/>
              </a:ext>
            </a:extLst>
          </p:cNvPr>
          <p:cNvSpPr/>
          <p:nvPr/>
        </p:nvSpPr>
        <p:spPr>
          <a:xfrm>
            <a:off x="11247545" y="3663184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1 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A7143-26E5-5D75-F104-B88BDF5D79C6}"/>
              </a:ext>
            </a:extLst>
          </p:cNvPr>
          <p:cNvSpPr/>
          <p:nvPr/>
        </p:nvSpPr>
        <p:spPr>
          <a:xfrm>
            <a:off x="11247542" y="4251274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5C3C4A-5A3E-275B-2045-A7E67A9EB499}"/>
              </a:ext>
            </a:extLst>
          </p:cNvPr>
          <p:cNvSpPr/>
          <p:nvPr/>
        </p:nvSpPr>
        <p:spPr>
          <a:xfrm>
            <a:off x="11247541" y="5732278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20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218C7-4CCA-7E13-1B56-6D847D294606}"/>
              </a:ext>
            </a:extLst>
          </p:cNvPr>
          <p:cNvSpPr txBox="1"/>
          <p:nvPr/>
        </p:nvSpPr>
        <p:spPr>
          <a:xfrm rot="5400000">
            <a:off x="12962873" y="4958728"/>
            <a:ext cx="6655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solidFill>
                  <a:schemeClr val="bg1"/>
                </a:solidFill>
              </a:rPr>
              <a:t>. . .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DA388E-33E2-3782-2246-B4865B72E89F}"/>
              </a:ext>
            </a:extLst>
          </p:cNvPr>
          <p:cNvSpPr/>
          <p:nvPr/>
        </p:nvSpPr>
        <p:spPr>
          <a:xfrm>
            <a:off x="863159" y="4348241"/>
            <a:ext cx="2959910" cy="1050837"/>
          </a:xfrm>
          <a:prstGeom prst="roundRect">
            <a:avLst/>
          </a:pr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Master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576BBB1-7C29-9A46-E70E-194DCACA804A}"/>
              </a:ext>
            </a:extLst>
          </p:cNvPr>
          <p:cNvSpPr/>
          <p:nvPr/>
        </p:nvSpPr>
        <p:spPr>
          <a:xfrm>
            <a:off x="11815700" y="8890452"/>
            <a:ext cx="2959910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Worker 20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pic>
        <p:nvPicPr>
          <p:cNvPr id="1026" name="Picture 2" descr="정렬 - 무료 ui개 아이콘">
            <a:extLst>
              <a:ext uri="{FF2B5EF4-FFF2-40B4-BE49-F238E27FC236}">
                <a16:creationId xmlns:a16="http://schemas.microsoft.com/office/drawing/2014/main" id="{8575AA38-E128-3F49-933F-A447B2287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66"/>
          <a:stretch>
            <a:fillRect/>
          </a:stretch>
        </p:blipFill>
        <p:spPr bwMode="auto">
          <a:xfrm>
            <a:off x="6029068" y="1486168"/>
            <a:ext cx="3406646" cy="296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A08C38-C98A-E792-2608-FFF503709C2F}"/>
              </a:ext>
            </a:extLst>
          </p:cNvPr>
          <p:cNvSpPr txBox="1"/>
          <p:nvPr/>
        </p:nvSpPr>
        <p:spPr>
          <a:xfrm>
            <a:off x="5904844" y="1139920"/>
            <a:ext cx="3661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Aptos Display" panose="020B0004020202020204" pitchFamily="34" charset="0"/>
              </a:rPr>
              <a:t>Sorting Algorithm</a:t>
            </a:r>
            <a:endParaRPr lang="ko-KR" altLang="en-US" sz="2400" dirty="0">
              <a:latin typeface="Aptos Display" panose="020B0004020202020204" pitchFamily="34" charset="0"/>
            </a:endParaRPr>
          </a:p>
        </p:txBody>
      </p: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F512DA3-7AB6-B946-A38B-192EA7AE2C9B}"/>
              </a:ext>
            </a:extLst>
          </p:cNvPr>
          <p:cNvCxnSpPr>
            <a:cxnSpLocks/>
            <a:stCxn id="7" idx="1"/>
            <a:endCxn id="28" idx="3"/>
          </p:cNvCxnSpPr>
          <p:nvPr/>
        </p:nvCxnSpPr>
        <p:spPr>
          <a:xfrm rot="10800000" flipV="1">
            <a:off x="9822431" y="2820743"/>
            <a:ext cx="1425116" cy="224612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6" name="연결선: 구부러짐 1045">
            <a:extLst>
              <a:ext uri="{FF2B5EF4-FFF2-40B4-BE49-F238E27FC236}">
                <a16:creationId xmlns:a16="http://schemas.microsoft.com/office/drawing/2014/main" id="{4D54E85B-F582-656F-4AAE-5F065EE0EBEF}"/>
              </a:ext>
            </a:extLst>
          </p:cNvPr>
          <p:cNvCxnSpPr>
            <a:stCxn id="16" idx="3"/>
            <a:endCxn id="28" idx="1"/>
          </p:cNvCxnSpPr>
          <p:nvPr/>
        </p:nvCxnSpPr>
        <p:spPr>
          <a:xfrm flipV="1">
            <a:off x="3823068" y="3045356"/>
            <a:ext cx="1760049" cy="1828304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8625605C-A1D4-A781-F758-BE027437D060}"/>
              </a:ext>
            </a:extLst>
          </p:cNvPr>
          <p:cNvSpPr/>
          <p:nvPr/>
        </p:nvSpPr>
        <p:spPr>
          <a:xfrm>
            <a:off x="11247539" y="6305272"/>
            <a:ext cx="3836423" cy="14790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latin typeface="Aptos Display" panose="020B0004020202020204" pitchFamily="34" charset="0"/>
              </a:rPr>
              <a:t>Output data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1053" name="사각형: 둥근 모서리 1052">
            <a:extLst>
              <a:ext uri="{FF2B5EF4-FFF2-40B4-BE49-F238E27FC236}">
                <a16:creationId xmlns:a16="http://schemas.microsoft.com/office/drawing/2014/main" id="{34794977-44E8-6C1C-5400-5B29CB7A97D9}"/>
              </a:ext>
            </a:extLst>
          </p:cNvPr>
          <p:cNvSpPr/>
          <p:nvPr/>
        </p:nvSpPr>
        <p:spPr>
          <a:xfrm>
            <a:off x="5860598" y="8890452"/>
            <a:ext cx="2959910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Worker 2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51FE1A14-D5F4-F567-59D1-610CC7BDE7AF}"/>
              </a:ext>
            </a:extLst>
          </p:cNvPr>
          <p:cNvSpPr/>
          <p:nvPr/>
        </p:nvSpPr>
        <p:spPr>
          <a:xfrm>
            <a:off x="9210227" y="8885958"/>
            <a:ext cx="370454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E8525B7-E348-E674-DAEF-3DD3F082E029}"/>
              </a:ext>
            </a:extLst>
          </p:cNvPr>
          <p:cNvSpPr txBox="1"/>
          <p:nvPr/>
        </p:nvSpPr>
        <p:spPr>
          <a:xfrm>
            <a:off x="10244059" y="9035097"/>
            <a:ext cx="6655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. . .</a:t>
            </a:r>
            <a:endParaRPr lang="ko-KR" altLang="en-US" sz="3000" b="1" dirty="0"/>
          </a:p>
        </p:txBody>
      </p:sp>
      <p:cxnSp>
        <p:nvCxnSpPr>
          <p:cNvPr id="1057" name="연결선: 구부러짐 1056">
            <a:extLst>
              <a:ext uri="{FF2B5EF4-FFF2-40B4-BE49-F238E27FC236}">
                <a16:creationId xmlns:a16="http://schemas.microsoft.com/office/drawing/2014/main" id="{99DEAAE9-44C0-7690-7556-0A594632648C}"/>
              </a:ext>
            </a:extLst>
          </p:cNvPr>
          <p:cNvCxnSpPr>
            <a:stCxn id="13" idx="3"/>
            <a:endCxn id="19" idx="3"/>
          </p:cNvCxnSpPr>
          <p:nvPr/>
        </p:nvCxnSpPr>
        <p:spPr>
          <a:xfrm flipH="1">
            <a:off x="14775610" y="5971148"/>
            <a:ext cx="308354" cy="3444723"/>
          </a:xfrm>
          <a:prstGeom prst="curvedConnector3">
            <a:avLst>
              <a:gd name="adj1" fmla="val -278607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0" name="Picture 6" descr="git pull과 git merge 비교">
            <a:extLst>
              <a:ext uri="{FF2B5EF4-FFF2-40B4-BE49-F238E27FC236}">
                <a16:creationId xmlns:a16="http://schemas.microsoft.com/office/drawing/2014/main" id="{8573909C-5E72-535A-C0D9-475ED2BD8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245768" y="5155455"/>
            <a:ext cx="2853762" cy="285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사각형: 둥근 모서리 1061">
            <a:extLst>
              <a:ext uri="{FF2B5EF4-FFF2-40B4-BE49-F238E27FC236}">
                <a16:creationId xmlns:a16="http://schemas.microsoft.com/office/drawing/2014/main" id="{1EF32E6D-5F3F-D73F-8507-03D13280B725}"/>
              </a:ext>
            </a:extLst>
          </p:cNvPr>
          <p:cNvSpPr/>
          <p:nvPr/>
        </p:nvSpPr>
        <p:spPr>
          <a:xfrm>
            <a:off x="5574531" y="4971901"/>
            <a:ext cx="4239312" cy="303647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BE6016C-4006-5855-9A96-BE27812E88CC}"/>
              </a:ext>
            </a:extLst>
          </p:cNvPr>
          <p:cNvSpPr txBox="1"/>
          <p:nvPr/>
        </p:nvSpPr>
        <p:spPr>
          <a:xfrm>
            <a:off x="6709622" y="4590325"/>
            <a:ext cx="19675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Aptos Display" panose="020B0004020202020204" pitchFamily="34" charset="0"/>
              </a:rPr>
              <a:t>Merge</a:t>
            </a:r>
            <a:endParaRPr lang="ko-KR" altLang="en-US" sz="2400" dirty="0">
              <a:latin typeface="Aptos Display" panose="020B0004020202020204" pitchFamily="34" charset="0"/>
            </a:endParaRPr>
          </a:p>
        </p:txBody>
      </p:sp>
      <p:cxnSp>
        <p:nvCxnSpPr>
          <p:cNvPr id="1067" name="연결선: 구부러짐 1066">
            <a:extLst>
              <a:ext uri="{FF2B5EF4-FFF2-40B4-BE49-F238E27FC236}">
                <a16:creationId xmlns:a16="http://schemas.microsoft.com/office/drawing/2014/main" id="{105EA37D-4FE8-EE40-A157-CB92629E3BA3}"/>
              </a:ext>
            </a:extLst>
          </p:cNvPr>
          <p:cNvCxnSpPr>
            <a:cxnSpLocks/>
            <a:stCxn id="10" idx="1"/>
            <a:endCxn id="1062" idx="3"/>
          </p:cNvCxnSpPr>
          <p:nvPr/>
        </p:nvCxnSpPr>
        <p:spPr>
          <a:xfrm rot="10800000" flipV="1">
            <a:off x="9813845" y="3902054"/>
            <a:ext cx="1433702" cy="2588082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9" name="연결선: 구부러짐 1068">
            <a:extLst>
              <a:ext uri="{FF2B5EF4-FFF2-40B4-BE49-F238E27FC236}">
                <a16:creationId xmlns:a16="http://schemas.microsoft.com/office/drawing/2014/main" id="{EE0E06F7-2A96-F10B-6A07-881C12605785}"/>
              </a:ext>
            </a:extLst>
          </p:cNvPr>
          <p:cNvCxnSpPr>
            <a:cxnSpLocks/>
            <a:stCxn id="1062" idx="1"/>
            <a:endCxn id="1047" idx="1"/>
          </p:cNvCxnSpPr>
          <p:nvPr/>
        </p:nvCxnSpPr>
        <p:spPr>
          <a:xfrm rot="10800000" flipH="1" flipV="1">
            <a:off x="5574530" y="6490135"/>
            <a:ext cx="5673008" cy="554657"/>
          </a:xfrm>
          <a:prstGeom prst="curvedConnector5">
            <a:avLst>
              <a:gd name="adj1" fmla="val -9684"/>
              <a:gd name="adj2" fmla="val 321229"/>
              <a:gd name="adj3" fmla="val 87364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44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사용자 지정</PresentationFormat>
  <Paragraphs>81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Aptos Display</vt:lpstr>
      <vt:lpstr>Glacial Indifference</vt:lpstr>
      <vt:lpstr>Calibri</vt:lpstr>
      <vt:lpstr>Garet Light</vt:lpstr>
      <vt:lpstr>Arial</vt:lpstr>
      <vt:lpstr>윤고딕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Problem Definition</vt:lpstr>
      <vt:lpstr>Overall Flow</vt:lpstr>
      <vt:lpstr>Master Design - abstraction</vt:lpstr>
      <vt:lpstr>Current Progress</vt:lpstr>
      <vt:lpstr>Master Plan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Presentation</dc:title>
  <cp:lastModifiedBy>이준엽(무은재학부)</cp:lastModifiedBy>
  <cp:revision>3</cp:revision>
  <dcterms:created xsi:type="dcterms:W3CDTF">2006-08-16T00:00:00Z</dcterms:created>
  <dcterms:modified xsi:type="dcterms:W3CDTF">2025-11-16T14:55:21Z</dcterms:modified>
  <dc:identifier>DAG42wtYqJU</dc:identifier>
</cp:coreProperties>
</file>