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35"/>
  </p:normalViewPr>
  <p:slideViewPr>
    <p:cSldViewPr snapToGrid="0">
      <p:cViewPr varScale="1">
        <p:scale>
          <a:sx n="49" d="100"/>
          <a:sy n="49" d="100"/>
        </p:scale>
        <p:origin x="77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53010-6974-8E46-8079-0FB8A6B76023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9D091-C2AB-504C-8DCF-40E70763B07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0613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742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Worker </a:t>
            </a:r>
            <a:r>
              <a:rPr lang="ko-KR" altLang="en-US" dirty="0"/>
              <a:t>관점에서 문제가 발생했을 때 </a:t>
            </a:r>
            <a:r>
              <a:rPr lang="en-US" altLang="ko-KR" dirty="0"/>
              <a:t>master</a:t>
            </a:r>
            <a:r>
              <a:rPr lang="ko-KR" altLang="en-US" dirty="0"/>
              <a:t>만 호출하면 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110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D645-C318-C749-BE5F-4CEAB7FD8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620ED-9C4A-74D5-8FF2-C5B13A32E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B1873-537B-62FF-62F8-E461BFA8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DAF7-89CA-3614-11B8-3FA3F160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82DE-D4EB-057C-0ABC-1CAA6BCD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340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76B9-AEE0-DF57-5A8F-AE0A9AC3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3BF59-37B5-5DCA-8E2B-DE3E48ED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4B9E5-FEF1-4329-B7C6-83806B07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DFFFC-8C26-B23E-D5CC-65F5F58E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60AE0-EBE2-6624-C874-885925E7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2605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8813-641C-C92C-7780-BC8C7E51D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122FD-1474-4FDB-C2E8-0973CD36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44CA2-CD96-B5B6-EC6F-B4327B1A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8F89-9E40-1B29-4828-55FBB619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1D263-03B8-A692-CE5A-1F566355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3169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803FB-B109-0F97-FAA3-1439EA9A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3F447-5733-3056-1467-76E71CA3F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0287D-6645-E585-B730-2DFDF7B14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A195-BC94-58D0-7905-07D3EB83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B54E4-7ACC-3717-961F-EABF7112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950D1-76B8-A9D4-4496-2C7E544D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7785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36D8-E282-5339-9BFB-BFDBD837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E7DA5-9B0F-552B-3538-D13041A8A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32E51-0D00-E6A2-9D8B-1B6DBAA37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19A20-0B8D-7E70-E4F6-946459736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743A2-4FEA-2C38-50D0-E6722BB0D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3E40D-18DC-A197-903B-6349A9CF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8EFDD-7204-76A4-547B-EE5206F9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A88BB-C711-223F-6073-7229BBAD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093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7F80-E2F3-D61C-412F-64EE56A8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A895C-89D7-6E46-9834-7CAEF98E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9110B-90C9-EA38-2E0A-EC7B47C1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1CAD8-4D00-1139-01CE-E4E5E887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3676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C6F95-D742-607D-30E0-9BD70449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88FF7-69B5-EA17-25D4-FCF87F0E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5868-D4B4-5035-7566-206D69C5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5828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9995-BD5E-AA42-2F9F-AC75AB8A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F95F9-029D-84F7-8BEA-5FEF94766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A4520-38D6-4F01-9B2D-BF151BE6F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703C3-D106-79E6-71EC-128E36DF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EB28E-2C73-4DB5-6498-E474D99B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94FAB-113D-AC2E-22D7-B3A5FEE7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5945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A35-A2E1-39E4-51F9-8F7FA186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5DB8E-5D4E-6497-B5C9-9F43681A6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5F596-A616-735A-0CB3-65A8695D8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509AA-833E-6598-4348-C9B26BA0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C167B-0D72-D0CB-6C68-F56EEC31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2EC10-8B6B-3FC9-7586-AE3BC703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049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414C-AF41-8AAA-162B-28EFE862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C20B4-81B5-4CFD-274B-DEAAB4AC6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D528E-A09A-D792-BD19-303FDFC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A2C1-AEBA-2AB9-FA01-1C47D419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2A044-E696-06BD-E3F9-6368214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5541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11F86-37F7-1D4B-F622-F26937D2A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28B9D-5A6E-AF64-76D1-2B40797C6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866D5-F75D-B323-4573-ED677D13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77F22-8772-1CB6-09EF-CBFDBCD2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603F-95F0-0D97-41CE-59D402AB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5133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47BF0-0332-5EA4-583F-A4AAFECC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E579-E851-DF15-3B87-4796D8BCF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035A9-F4AE-9D69-88E7-A330D0F33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5FA7A-103B-FB48-B943-20C23CBA950B}" type="datetimeFigureOut">
              <a:rPr lang="en-KR" smtClean="0"/>
              <a:t>11/16/2025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1174-1B03-ED7E-F993-8B0AB219D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9333D-442F-8793-ABA6-9D5F90380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A0327-8F08-4148-B95C-E3BC63FF659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3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3024-DB43-2E15-0916-D921A1239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ptos Display" panose="020B0004020202020204" pitchFamily="34" charset="0"/>
              </a:rPr>
              <a:t>CS332 Project Presentation</a:t>
            </a:r>
            <a:endParaRPr lang="en-KR" sz="5400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6E6CD-26A6-00C7-F5F6-9F8B04C5D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박민혁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이준엽 이현수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055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49C3-A872-02A1-0D03-46F8CC16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  <a:endParaRPr lang="en-KR" dirty="0"/>
          </a:p>
        </p:txBody>
      </p:sp>
      <p:pic>
        <p:nvPicPr>
          <p:cNvPr id="5" name="Graphic 4" descr="Crown with solid fill">
            <a:extLst>
              <a:ext uri="{FF2B5EF4-FFF2-40B4-BE49-F238E27FC236}">
                <a16:creationId xmlns:a16="http://schemas.microsoft.com/office/drawing/2014/main" id="{C44B1878-4738-1638-A41B-5061EB576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027906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C5E866-3723-1971-925E-6FD119AA167F}"/>
              </a:ext>
            </a:extLst>
          </p:cNvPr>
          <p:cNvSpPr/>
          <p:nvPr/>
        </p:nvSpPr>
        <p:spPr>
          <a:xfrm>
            <a:off x="1615155" y="3794333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cpu</a:t>
            </a:r>
            <a:endParaRPr lang="en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9701C-E5CB-A7CA-315E-C990A29067CA}"/>
              </a:ext>
            </a:extLst>
          </p:cNvPr>
          <p:cNvSpPr/>
          <p:nvPr/>
        </p:nvSpPr>
        <p:spPr>
          <a:xfrm>
            <a:off x="1615154" y="4493664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RAM</a:t>
            </a:r>
            <a:endParaRPr lang="en-K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3E9FE4-69D7-5108-010A-AF1090DBE232}"/>
              </a:ext>
            </a:extLst>
          </p:cNvPr>
          <p:cNvSpPr/>
          <p:nvPr/>
        </p:nvSpPr>
        <p:spPr>
          <a:xfrm>
            <a:off x="1615153" y="5192995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disk</a:t>
            </a:r>
            <a:endParaRPr lang="en-KR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4108BD-1559-E692-B373-1C0D579D173E}"/>
              </a:ext>
            </a:extLst>
          </p:cNvPr>
          <p:cNvSpPr/>
          <p:nvPr/>
        </p:nvSpPr>
        <p:spPr>
          <a:xfrm>
            <a:off x="1337414" y="3447871"/>
            <a:ext cx="1615155" cy="2604331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91076-E554-6F88-A483-1504060396B9}"/>
              </a:ext>
            </a:extLst>
          </p:cNvPr>
          <p:cNvSpPr/>
          <p:nvPr/>
        </p:nvSpPr>
        <p:spPr>
          <a:xfrm>
            <a:off x="3767271" y="3775462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cpu</a:t>
            </a:r>
            <a:endParaRPr lang="en-K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39CD2-8471-0AE0-B0BE-0F00E952CDBC}"/>
              </a:ext>
            </a:extLst>
          </p:cNvPr>
          <p:cNvSpPr/>
          <p:nvPr/>
        </p:nvSpPr>
        <p:spPr>
          <a:xfrm>
            <a:off x="3767270" y="4474793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RAM</a:t>
            </a:r>
            <a:endParaRPr lang="en-K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0EF08-2BC7-0FFA-C067-8C230D61634A}"/>
              </a:ext>
            </a:extLst>
          </p:cNvPr>
          <p:cNvSpPr/>
          <p:nvPr/>
        </p:nvSpPr>
        <p:spPr>
          <a:xfrm>
            <a:off x="3767269" y="5174124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disk</a:t>
            </a:r>
            <a:endParaRPr lang="en-KR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2C55DF-0D4C-E3BB-3352-A9DE156EEC89}"/>
              </a:ext>
            </a:extLst>
          </p:cNvPr>
          <p:cNvSpPr/>
          <p:nvPr/>
        </p:nvSpPr>
        <p:spPr>
          <a:xfrm>
            <a:off x="3489530" y="3429000"/>
            <a:ext cx="1615155" cy="2604331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6D740-1E65-757E-FEB8-85D3C6CFBEDD}"/>
              </a:ext>
            </a:extLst>
          </p:cNvPr>
          <p:cNvSpPr/>
          <p:nvPr/>
        </p:nvSpPr>
        <p:spPr>
          <a:xfrm>
            <a:off x="9517172" y="3794333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cpu</a:t>
            </a:r>
            <a:endParaRPr lang="en-K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23106-2EFC-EE14-3F9F-363D35B1863E}"/>
              </a:ext>
            </a:extLst>
          </p:cNvPr>
          <p:cNvSpPr/>
          <p:nvPr/>
        </p:nvSpPr>
        <p:spPr>
          <a:xfrm>
            <a:off x="9517171" y="4493664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RAM</a:t>
            </a:r>
            <a:endParaRPr lang="en-K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CB4D1-9E07-D34E-E61F-A5D956240E0B}"/>
              </a:ext>
            </a:extLst>
          </p:cNvPr>
          <p:cNvSpPr/>
          <p:nvPr/>
        </p:nvSpPr>
        <p:spPr>
          <a:xfrm>
            <a:off x="9517170" y="5192995"/>
            <a:ext cx="1059679" cy="512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disk</a:t>
            </a:r>
            <a:endParaRPr lang="en-KR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A300E0-A8DD-F250-2404-2EE17C0AC6E5}"/>
              </a:ext>
            </a:extLst>
          </p:cNvPr>
          <p:cNvSpPr/>
          <p:nvPr/>
        </p:nvSpPr>
        <p:spPr>
          <a:xfrm>
            <a:off x="9239431" y="3447871"/>
            <a:ext cx="1615155" cy="2604331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ED6FD-3B33-156A-F374-2B4C6E1292B7}"/>
              </a:ext>
            </a:extLst>
          </p:cNvPr>
          <p:cNvSpPr txBox="1"/>
          <p:nvPr/>
        </p:nvSpPr>
        <p:spPr>
          <a:xfrm>
            <a:off x="6981140" y="413145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84C4B-DA12-07A0-3A50-F33E3D88900C}"/>
              </a:ext>
            </a:extLst>
          </p:cNvPr>
          <p:cNvSpPr txBox="1"/>
          <p:nvPr/>
        </p:nvSpPr>
        <p:spPr>
          <a:xfrm>
            <a:off x="1654183" y="3086771"/>
            <a:ext cx="98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worker0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27A12-6719-B5F7-4437-C6D41B134FD1}"/>
              </a:ext>
            </a:extLst>
          </p:cNvPr>
          <p:cNvSpPr txBox="1"/>
          <p:nvPr/>
        </p:nvSpPr>
        <p:spPr>
          <a:xfrm>
            <a:off x="3806299" y="3092701"/>
            <a:ext cx="98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worker1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B3D8F-1516-1522-8E30-DF4B590D5C62}"/>
              </a:ext>
            </a:extLst>
          </p:cNvPr>
          <p:cNvSpPr txBox="1"/>
          <p:nvPr/>
        </p:nvSpPr>
        <p:spPr>
          <a:xfrm>
            <a:off x="9556202" y="3086771"/>
            <a:ext cx="1105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worker19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515051-8C64-ED2A-16CC-9EE4BD95B717}"/>
              </a:ext>
            </a:extLst>
          </p:cNvPr>
          <p:cNvCxnSpPr>
            <a:endCxn id="19" idx="0"/>
          </p:cNvCxnSpPr>
          <p:nvPr/>
        </p:nvCxnSpPr>
        <p:spPr>
          <a:xfrm flipH="1">
            <a:off x="2144991" y="1942306"/>
            <a:ext cx="3951009" cy="1144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8D8B6F-F970-9772-182D-CCA2DDA4B1D0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297107" y="1942306"/>
            <a:ext cx="1798893" cy="11503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9B50C4-9AA9-8543-837A-D3C7CF2EFA1B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096000" y="1945842"/>
            <a:ext cx="4012725" cy="1140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F2005E-BDF9-91A1-F8B3-CE3DCED06F9F}"/>
              </a:ext>
            </a:extLst>
          </p:cNvPr>
          <p:cNvSpPr txBox="1"/>
          <p:nvPr/>
        </p:nvSpPr>
        <p:spPr>
          <a:xfrm>
            <a:off x="6981140" y="1390885"/>
            <a:ext cx="4142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step1</a:t>
            </a:r>
            <a:r>
              <a:rPr lang="en-KR" b="1" dirty="0"/>
              <a:t>. </a:t>
            </a:r>
            <a:r>
              <a:rPr lang="en-KR" dirty="0"/>
              <a:t>master samples some data </a:t>
            </a:r>
            <a:r>
              <a:rPr lang="en-US" dirty="0"/>
              <a:t>from workers and determines the key range each worker will be responsible for</a:t>
            </a:r>
            <a:endParaRPr lang="en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1F137-54C1-DD4D-D723-53339121144E}"/>
              </a:ext>
            </a:extLst>
          </p:cNvPr>
          <p:cNvSpPr txBox="1"/>
          <p:nvPr/>
        </p:nvSpPr>
        <p:spPr>
          <a:xfrm>
            <a:off x="5638800" y="874522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master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223EE-3E22-4796-F964-2FD19111A6B4}"/>
              </a:ext>
            </a:extLst>
          </p:cNvPr>
          <p:cNvSpPr txBox="1"/>
          <p:nvPr/>
        </p:nvSpPr>
        <p:spPr>
          <a:xfrm>
            <a:off x="553657" y="1755722"/>
            <a:ext cx="4142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step2</a:t>
            </a:r>
            <a:r>
              <a:rPr lang="en-KR" b="1" dirty="0"/>
              <a:t>. </a:t>
            </a:r>
            <a:r>
              <a:rPr lang="en-US" dirty="0"/>
              <a:t>each worker splits its local data into chunks, sorts it, and then partitions the sorted data according to the global key ranges</a:t>
            </a:r>
            <a:endParaRPr lang="en-KR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934F2B-F68E-FEBE-0D8D-A0D4DBF9ABA6}"/>
              </a:ext>
            </a:extLst>
          </p:cNvPr>
          <p:cNvCxnSpPr>
            <a:cxnSpLocks/>
          </p:cNvCxnSpPr>
          <p:nvPr/>
        </p:nvCxnSpPr>
        <p:spPr>
          <a:xfrm>
            <a:off x="6527890" y="4020480"/>
            <a:ext cx="1149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BE3DDC-5E0C-759D-5194-240496091A20}"/>
              </a:ext>
            </a:extLst>
          </p:cNvPr>
          <p:cNvCxnSpPr>
            <a:cxnSpLocks/>
          </p:cNvCxnSpPr>
          <p:nvPr/>
        </p:nvCxnSpPr>
        <p:spPr>
          <a:xfrm flipH="1">
            <a:off x="6516284" y="4131454"/>
            <a:ext cx="11608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8AA17C-CDAA-A9E6-DD85-52F156F8C0ED}"/>
              </a:ext>
            </a:extLst>
          </p:cNvPr>
          <p:cNvSpPr txBox="1"/>
          <p:nvPr/>
        </p:nvSpPr>
        <p:spPr>
          <a:xfrm>
            <a:off x="5472014" y="3358898"/>
            <a:ext cx="3400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step3</a:t>
            </a:r>
            <a:r>
              <a:rPr lang="en-KR" b="1" dirty="0"/>
              <a:t>.</a:t>
            </a:r>
            <a:r>
              <a:rPr lang="en-US" dirty="0"/>
              <a:t> workers exchanged the partitioned data with each other</a:t>
            </a:r>
            <a:endParaRPr lang="en-K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71CA2B-182B-AAB3-112E-C03D8A83D1EF}"/>
              </a:ext>
            </a:extLst>
          </p:cNvPr>
          <p:cNvSpPr txBox="1"/>
          <p:nvPr/>
        </p:nvSpPr>
        <p:spPr>
          <a:xfrm>
            <a:off x="5437375" y="4815719"/>
            <a:ext cx="414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step4</a:t>
            </a:r>
            <a:r>
              <a:rPr lang="en-KR" b="1" dirty="0"/>
              <a:t>. </a:t>
            </a:r>
            <a:r>
              <a:rPr lang="en-US" dirty="0"/>
              <a:t>each worker merge the data sorted in their own disk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327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7A2B09-A077-66D3-83EA-04DC78053BED}"/>
              </a:ext>
            </a:extLst>
          </p:cNvPr>
          <p:cNvSpPr/>
          <p:nvPr/>
        </p:nvSpPr>
        <p:spPr>
          <a:xfrm>
            <a:off x="838200" y="2766218"/>
            <a:ext cx="2723707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en-KR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33CDAD-A31F-82A2-A71F-6CB23300E86B}"/>
              </a:ext>
            </a:extLst>
          </p:cNvPr>
          <p:cNvSpPr/>
          <p:nvPr/>
        </p:nvSpPr>
        <p:spPr>
          <a:xfrm>
            <a:off x="8665536" y="971291"/>
            <a:ext cx="1446027" cy="14460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worker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24500F-2AF6-F6AB-42B0-7E63468E9EC0}"/>
              </a:ext>
            </a:extLst>
          </p:cNvPr>
          <p:cNvSpPr/>
          <p:nvPr/>
        </p:nvSpPr>
        <p:spPr>
          <a:xfrm>
            <a:off x="8665536" y="2705985"/>
            <a:ext cx="1446027" cy="14460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worker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16FFEC-0135-EEB7-FB26-7CD9B2549F4E}"/>
              </a:ext>
            </a:extLst>
          </p:cNvPr>
          <p:cNvSpPr/>
          <p:nvPr/>
        </p:nvSpPr>
        <p:spPr>
          <a:xfrm>
            <a:off x="8665536" y="4685598"/>
            <a:ext cx="1446027" cy="14460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worker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4FBF5B-AF0E-CBA0-7A51-A1C3D8807338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>
            <a:off x="3561907" y="1694305"/>
            <a:ext cx="5103629" cy="1734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B72394-EE8A-ACC3-2DEE-942A89B21874}"/>
              </a:ext>
            </a:extLst>
          </p:cNvPr>
          <p:cNvSpPr txBox="1"/>
          <p:nvPr/>
        </p:nvSpPr>
        <p:spPr>
          <a:xfrm>
            <a:off x="3968302" y="1781571"/>
            <a:ext cx="425539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Register each worker’s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to the master</a:t>
            </a:r>
            <a:endParaRPr lang="en-KR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0E410A-174E-75B3-E8C5-DF91797A78CE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3561907" y="3428998"/>
            <a:ext cx="5103629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DD90A9-0B24-0CC9-1398-E57F2544EE4A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flipH="1" flipV="1">
            <a:off x="3561907" y="3429000"/>
            <a:ext cx="5103629" cy="1979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525031-2A82-3EF2-2FBD-9DBC147371A3}"/>
              </a:ext>
            </a:extLst>
          </p:cNvPr>
          <p:cNvSpPr txBox="1"/>
          <p:nvPr/>
        </p:nvSpPr>
        <p:spPr>
          <a:xfrm>
            <a:off x="4360334" y="4506392"/>
            <a:ext cx="216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3. Sampling request</a:t>
            </a:r>
            <a:endParaRPr lang="en-KR" dirty="0">
              <a:solidFill>
                <a:schemeClr val="accent3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67C8A-22F3-AFA3-2B85-E63E63F501E0}"/>
              </a:ext>
            </a:extLst>
          </p:cNvPr>
          <p:cNvCxnSpPr>
            <a:stCxn id="4" idx="3"/>
            <a:endCxn id="6" idx="2"/>
          </p:cNvCxnSpPr>
          <p:nvPr/>
        </p:nvCxnSpPr>
        <p:spPr>
          <a:xfrm flipV="1">
            <a:off x="3561907" y="3428999"/>
            <a:ext cx="5103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B1FBD-EDFB-D877-8C0A-969FD79EA800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561907" y="1694305"/>
            <a:ext cx="5103629" cy="1734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285959-9533-6B1C-2441-64A54C1A5A74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3561907" y="3429000"/>
            <a:ext cx="5103629" cy="197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D7C031-471F-B9D5-179D-CD64D6883C2F}"/>
              </a:ext>
            </a:extLst>
          </p:cNvPr>
          <p:cNvSpPr txBox="1"/>
          <p:nvPr/>
        </p:nvSpPr>
        <p:spPr>
          <a:xfrm>
            <a:off x="4738601" y="3506031"/>
            <a:ext cx="2887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tx2"/>
                </a:solidFill>
              </a:rPr>
              <a:t>2. </a:t>
            </a:r>
            <a:r>
              <a:rPr lang="en-US" dirty="0">
                <a:solidFill>
                  <a:schemeClr val="tx2"/>
                </a:solidFill>
              </a:rPr>
              <a:t>G</a:t>
            </a:r>
            <a:r>
              <a:rPr lang="en-KR" dirty="0">
                <a:solidFill>
                  <a:schemeClr val="tx2"/>
                </a:solidFill>
              </a:rPr>
              <a:t>ather the all I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KR" dirty="0">
                <a:solidFill>
                  <a:schemeClr val="tx2"/>
                </a:solidFill>
              </a:rPr>
              <a:t>s and send them back to all workers</a:t>
            </a: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AA5A5780-9CAF-1E8E-AEB7-D0559EDDEAD3}"/>
              </a:ext>
            </a:extLst>
          </p:cNvPr>
          <p:cNvSpPr/>
          <p:nvPr/>
        </p:nvSpPr>
        <p:spPr>
          <a:xfrm rot="4131090">
            <a:off x="6466590" y="1816584"/>
            <a:ext cx="299066" cy="1755429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3F677DFB-A41B-F876-467E-6BE1D644F744}"/>
              </a:ext>
            </a:extLst>
          </p:cNvPr>
          <p:cNvSpPr/>
          <p:nvPr/>
        </p:nvSpPr>
        <p:spPr>
          <a:xfrm rot="5400000">
            <a:off x="6489116" y="2859316"/>
            <a:ext cx="299066" cy="1711513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551D02D0-D4DE-E264-D584-D9E17D1AFED7}"/>
              </a:ext>
            </a:extLst>
          </p:cNvPr>
          <p:cNvSpPr/>
          <p:nvPr/>
        </p:nvSpPr>
        <p:spPr>
          <a:xfrm rot="6659656">
            <a:off x="6420941" y="3576721"/>
            <a:ext cx="299066" cy="1572395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881BE5-96A6-1D21-056F-51D4E112AAFB}"/>
              </a:ext>
            </a:extLst>
          </p:cNvPr>
          <p:cNvSpPr txBox="1"/>
          <p:nvPr/>
        </p:nvSpPr>
        <p:spPr>
          <a:xfrm>
            <a:off x="6069851" y="2965762"/>
            <a:ext cx="246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accent4"/>
                </a:solidFill>
              </a:rPr>
              <a:t>4. return sample datas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8AA5E9-F3BA-F59A-BF1F-54AD66387ACF}"/>
              </a:ext>
            </a:extLst>
          </p:cNvPr>
          <p:cNvSpPr txBox="1"/>
          <p:nvPr/>
        </p:nvSpPr>
        <p:spPr>
          <a:xfrm>
            <a:off x="863690" y="4196198"/>
            <a:ext cx="2835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/>
              <a:t>4. </a:t>
            </a:r>
            <a:r>
              <a:rPr lang="en-US" dirty="0"/>
              <a:t>C</a:t>
            </a:r>
            <a:r>
              <a:rPr lang="en-KR" dirty="0"/>
              <a:t>alculate each key range </a:t>
            </a:r>
            <a:r>
              <a:rPr lang="en-US" dirty="0"/>
              <a:t>and send them back to each worker</a:t>
            </a:r>
            <a:endParaRPr lang="en-K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AE372D-D298-DFF2-3DFB-FEBA13438E9A}"/>
              </a:ext>
            </a:extLst>
          </p:cNvPr>
          <p:cNvSpPr txBox="1"/>
          <p:nvPr/>
        </p:nvSpPr>
        <p:spPr>
          <a:xfrm>
            <a:off x="9356891" y="3196207"/>
            <a:ext cx="283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/>
                </a:solidFill>
              </a:rPr>
              <a:t>5. sorting</a:t>
            </a:r>
            <a:endParaRPr lang="en-KR" dirty="0">
              <a:solidFill>
                <a:schemeClr val="accent5"/>
              </a:solidFill>
            </a:endParaRPr>
          </a:p>
        </p:txBody>
      </p:sp>
      <p:sp>
        <p:nvSpPr>
          <p:cNvPr id="45" name="Up-Down Arrow 44">
            <a:extLst>
              <a:ext uri="{FF2B5EF4-FFF2-40B4-BE49-F238E27FC236}">
                <a16:creationId xmlns:a16="http://schemas.microsoft.com/office/drawing/2014/main" id="{2DA282A3-00B8-E103-CD57-4AB010E1CB7A}"/>
              </a:ext>
            </a:extLst>
          </p:cNvPr>
          <p:cNvSpPr/>
          <p:nvPr/>
        </p:nvSpPr>
        <p:spPr>
          <a:xfrm>
            <a:off x="9260791" y="2154221"/>
            <a:ext cx="255516" cy="81485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6" name="Up-Down Arrow 45">
            <a:extLst>
              <a:ext uri="{FF2B5EF4-FFF2-40B4-BE49-F238E27FC236}">
                <a16:creationId xmlns:a16="http://schemas.microsoft.com/office/drawing/2014/main" id="{43BA9531-4ACE-338A-5D93-9B061A6C2E4B}"/>
              </a:ext>
            </a:extLst>
          </p:cNvPr>
          <p:cNvSpPr/>
          <p:nvPr/>
        </p:nvSpPr>
        <p:spPr>
          <a:xfrm>
            <a:off x="9260791" y="4022039"/>
            <a:ext cx="255516" cy="81485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95C8EAC9-06E0-99E8-6118-051DB104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Overall Flow</a:t>
            </a:r>
          </a:p>
        </p:txBody>
      </p:sp>
    </p:spTree>
    <p:extLst>
      <p:ext uri="{BB962C8B-B14F-4D97-AF65-F5344CB8AC3E}">
        <p14:creationId xmlns:p14="http://schemas.microsoft.com/office/powerpoint/2010/main" val="20625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31" grpId="0"/>
      <p:bldP spid="38" grpId="0" animBg="1"/>
      <p:bldP spid="39" grpId="0" animBg="1"/>
      <p:bldP spid="40" grpId="0" animBg="1"/>
      <p:bldP spid="41" grpId="0"/>
      <p:bldP spid="42" grpId="0"/>
      <p:bldP spid="43" grpId="0"/>
      <p:bldP spid="43" grpId="1"/>
      <p:bldP spid="45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7098-D80E-6CAD-CCFE-CAD2AE2D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</a:t>
            </a:r>
            <a:r>
              <a:rPr lang="en-US" dirty="0"/>
              <a:t>Design - abstraction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E0A4-426C-B247-A31B-0E1C66B33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Master – Worker </a:t>
            </a:r>
            <a:r>
              <a:rPr lang="en-US" dirty="0"/>
              <a:t>= </a:t>
            </a:r>
            <a:r>
              <a:rPr lang="en-US" i="1" dirty="0"/>
              <a:t>kernel – user program</a:t>
            </a:r>
            <a:endParaRPr lang="en-KR" i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4A6F6E-92D9-568E-DCF7-CDBFAFD1874E}"/>
              </a:ext>
            </a:extLst>
          </p:cNvPr>
          <p:cNvSpPr/>
          <p:nvPr/>
        </p:nvSpPr>
        <p:spPr>
          <a:xfrm>
            <a:off x="838200" y="3621352"/>
            <a:ext cx="2723707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  <a:endParaRPr lang="en-KR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20746D-7209-B86F-96C3-948D995EEC26}"/>
              </a:ext>
            </a:extLst>
          </p:cNvPr>
          <p:cNvSpPr/>
          <p:nvPr/>
        </p:nvSpPr>
        <p:spPr>
          <a:xfrm>
            <a:off x="8665536" y="1826425"/>
            <a:ext cx="1446027" cy="14460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worker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41653D-CEAB-5771-5DB6-7E118964A274}"/>
              </a:ext>
            </a:extLst>
          </p:cNvPr>
          <p:cNvCxnSpPr>
            <a:stCxn id="5" idx="2"/>
            <a:endCxn id="4" idx="3"/>
          </p:cNvCxnSpPr>
          <p:nvPr/>
        </p:nvCxnSpPr>
        <p:spPr>
          <a:xfrm flipH="1">
            <a:off x="3561907" y="2549439"/>
            <a:ext cx="5103629" cy="1734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5F18EF-2F2A-7193-E774-FFB39B17BB29}"/>
              </a:ext>
            </a:extLst>
          </p:cNvPr>
          <p:cNvSpPr txBox="1"/>
          <p:nvPr/>
        </p:nvSpPr>
        <p:spPr>
          <a:xfrm>
            <a:off x="4885267" y="2929467"/>
            <a:ext cx="1888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KR" dirty="0"/>
              <a:t>isk overflow</a:t>
            </a:r>
          </a:p>
          <a:p>
            <a:r>
              <a:rPr lang="en-US" dirty="0"/>
              <a:t>M</a:t>
            </a:r>
            <a:r>
              <a:rPr lang="en-KR" dirty="0"/>
              <a:t>emory overflow</a:t>
            </a:r>
          </a:p>
          <a:p>
            <a:r>
              <a:rPr lang="en-US" dirty="0"/>
              <a:t>P</a:t>
            </a:r>
            <a:r>
              <a:rPr lang="en-KR" dirty="0"/>
              <a:t>rogram fail</a:t>
            </a:r>
          </a:p>
          <a:p>
            <a:r>
              <a:rPr lang="en-KR" dirty="0"/>
              <a:t>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C1770F-1604-4902-58F0-32BC1CF96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718358"/>
              </p:ext>
            </p:extLst>
          </p:nvPr>
        </p:nvGraphicFramePr>
        <p:xfrm>
          <a:off x="2988733" y="4713923"/>
          <a:ext cx="3022600" cy="1463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3181962596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187806297"/>
                    </a:ext>
                  </a:extLst>
                </a:gridCol>
              </a:tblGrid>
              <a:tr h="361507">
                <a:tc>
                  <a:txBody>
                    <a:bodyPr/>
                    <a:lstStyle/>
                    <a:p>
                      <a:pPr algn="ctr"/>
                      <a:r>
                        <a:rPr lang="en-KR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handler</a:t>
                      </a:r>
                      <a:r>
                        <a:rPr lang="en-KR" b="0" dirty="0"/>
                        <a:t>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78353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pPr algn="ctr"/>
                      <a:r>
                        <a:rPr lang="en-KR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handler</a:t>
                      </a:r>
                      <a:r>
                        <a:rPr lang="en-KR" b="0" dirty="0"/>
                        <a:t>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151926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pPr algn="ctr"/>
                      <a:r>
                        <a:rPr lang="en-KR" b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05576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n</a:t>
                      </a:r>
                      <a:endParaRPr lang="en-K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handler</a:t>
                      </a:r>
                      <a:r>
                        <a:rPr lang="en-KR" b="0" dirty="0"/>
                        <a:t>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2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51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D3BF-D6DD-386D-201C-20F1F64D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Current </a:t>
            </a:r>
            <a:r>
              <a:rPr lang="en-US" dirty="0"/>
              <a:t>Progress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7AC7-2B64-344E-177B-270FEEDC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ZIO gRPC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DC192-1606-1289-A8DE-6EF3D3FC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2315566"/>
            <a:ext cx="6350000" cy="1685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068AF-411C-0B4A-0C0D-5978B3FE5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4120301"/>
            <a:ext cx="6350000" cy="165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90A9-16A9-4DAB-A330-65BA6E36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A58C-9E62-EAA8-A90E-F602DD59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33590-9F32-19CD-C3D4-C2CC91B6CEC1}"/>
              </a:ext>
            </a:extLst>
          </p:cNvPr>
          <p:cNvSpPr txBox="1"/>
          <p:nvPr/>
        </p:nvSpPr>
        <p:spPr>
          <a:xfrm>
            <a:off x="697348" y="1797078"/>
            <a:ext cx="5617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Implement error handling logic</a:t>
            </a:r>
            <a:endParaRPr lang="en-KR" b="1" dirty="0">
              <a:solidFill>
                <a:srgbClr val="FF0000"/>
              </a:solidFill>
            </a:endParaRP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B1ECC24-A3A0-8DFD-CEC8-97527AC06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8" y="2443409"/>
            <a:ext cx="5398652" cy="2687392"/>
          </a:xfrm>
          <a:prstGeom prst="rect">
            <a:avLst/>
          </a:prstGeom>
        </p:spPr>
      </p:pic>
      <p:pic>
        <p:nvPicPr>
          <p:cNvPr id="14" name="Picture 13" descr="A diagram of a workflow&#10;&#10;AI-generated content may be incorrect.">
            <a:extLst>
              <a:ext uri="{FF2B5EF4-FFF2-40B4-BE49-F238E27FC236}">
                <a16:creationId xmlns:a16="http://schemas.microsoft.com/office/drawing/2014/main" id="{E0AF1C67-3A71-A520-CD32-2880AB91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449230"/>
            <a:ext cx="4563533" cy="24196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BC214-6920-1C12-583B-21EBEED1D4B1}"/>
              </a:ext>
            </a:extLst>
          </p:cNvPr>
          <p:cNvSpPr txBox="1"/>
          <p:nvPr/>
        </p:nvSpPr>
        <p:spPr>
          <a:xfrm>
            <a:off x="6488548" y="1797078"/>
            <a:ext cx="5617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Implement sampling logic</a:t>
            </a:r>
            <a:endParaRPr lang="en-K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6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F56AD0E-7B14-F1B7-DAA2-34A034E509CC}"/>
              </a:ext>
            </a:extLst>
          </p:cNvPr>
          <p:cNvSpPr/>
          <p:nvPr/>
        </p:nvSpPr>
        <p:spPr>
          <a:xfrm>
            <a:off x="3722078" y="1018080"/>
            <a:ext cx="2826208" cy="2024313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EB63CFC-CAA2-9E98-9495-52E356BC0F25}"/>
              </a:ext>
            </a:extLst>
          </p:cNvPr>
          <p:cNvSpPr/>
          <p:nvPr/>
        </p:nvSpPr>
        <p:spPr>
          <a:xfrm>
            <a:off x="7256857" y="848738"/>
            <a:ext cx="3040624" cy="4549171"/>
          </a:xfrm>
          <a:prstGeom prst="roundRect">
            <a:avLst>
              <a:gd name="adj" fmla="val 890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BAE5D3-1CAC-029C-D557-9AFF299C803B}"/>
              </a:ext>
            </a:extLst>
          </p:cNvPr>
          <p:cNvSpPr/>
          <p:nvPr/>
        </p:nvSpPr>
        <p:spPr>
          <a:xfrm>
            <a:off x="3038075" y="453338"/>
            <a:ext cx="7826478" cy="521250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7467-D8B1-5AEB-954A-CDAFFEFAB05D}"/>
              </a:ext>
            </a:extLst>
          </p:cNvPr>
          <p:cNvSpPr txBox="1"/>
          <p:nvPr/>
        </p:nvSpPr>
        <p:spPr>
          <a:xfrm>
            <a:off x="6100823" y="204682"/>
            <a:ext cx="170098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Aptos Display" panose="020B0004020202020204" pitchFamily="34" charset="0"/>
              </a:rPr>
              <a:t>Worker 1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AED13-15D1-90A6-1540-9AA81355447C}"/>
              </a:ext>
            </a:extLst>
          </p:cNvPr>
          <p:cNvSpPr/>
          <p:nvPr/>
        </p:nvSpPr>
        <p:spPr>
          <a:xfrm>
            <a:off x="7498363" y="1387482"/>
            <a:ext cx="2557615" cy="9860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ptos Display" panose="020B0004020202020204" pitchFamily="34" charset="0"/>
              </a:rPr>
              <a:t>Input data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CC956-1733-C218-2846-E5764CC01711}"/>
              </a:ext>
            </a:extLst>
          </p:cNvPr>
          <p:cNvSpPr txBox="1"/>
          <p:nvPr/>
        </p:nvSpPr>
        <p:spPr>
          <a:xfrm>
            <a:off x="8474043" y="918545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Aptos Display" panose="020B0004020202020204" pitchFamily="34" charset="0"/>
              </a:rPr>
              <a:t>disk</a:t>
            </a:r>
            <a:endParaRPr lang="ko-KR" altLang="en-US" sz="2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881D22-44EF-8992-6EDB-F1DF53DFF6BB}"/>
              </a:ext>
            </a:extLst>
          </p:cNvPr>
          <p:cNvSpPr/>
          <p:nvPr/>
        </p:nvSpPr>
        <p:spPr>
          <a:xfrm>
            <a:off x="7498363" y="2442122"/>
            <a:ext cx="2557615" cy="3184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Worker 1 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A7143-26E5-5D75-F104-B88BDF5D79C6}"/>
              </a:ext>
            </a:extLst>
          </p:cNvPr>
          <p:cNvSpPr/>
          <p:nvPr/>
        </p:nvSpPr>
        <p:spPr>
          <a:xfrm>
            <a:off x="7498361" y="2834182"/>
            <a:ext cx="2557615" cy="3184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Worker 2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5C3C4A-5A3E-275B-2045-A7E67A9EB499}"/>
              </a:ext>
            </a:extLst>
          </p:cNvPr>
          <p:cNvSpPr/>
          <p:nvPr/>
        </p:nvSpPr>
        <p:spPr>
          <a:xfrm>
            <a:off x="7498360" y="3821518"/>
            <a:ext cx="2557615" cy="3184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Worker 20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218C7-4CCA-7E13-1B56-6D847D294606}"/>
              </a:ext>
            </a:extLst>
          </p:cNvPr>
          <p:cNvSpPr txBox="1"/>
          <p:nvPr/>
        </p:nvSpPr>
        <p:spPr>
          <a:xfrm rot="5400000">
            <a:off x="8580680" y="3290430"/>
            <a:ext cx="56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. . .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DA388E-33E2-3782-2246-B4865B72E89F}"/>
              </a:ext>
            </a:extLst>
          </p:cNvPr>
          <p:cNvSpPr/>
          <p:nvPr/>
        </p:nvSpPr>
        <p:spPr>
          <a:xfrm>
            <a:off x="575439" y="2898827"/>
            <a:ext cx="1973273" cy="700558"/>
          </a:xfrm>
          <a:prstGeom prst="roundRect">
            <a:avLst/>
          </a:pr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Master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576BBB1-7C29-9A46-E70E-194DCACA804A}"/>
              </a:ext>
            </a:extLst>
          </p:cNvPr>
          <p:cNvSpPr/>
          <p:nvPr/>
        </p:nvSpPr>
        <p:spPr>
          <a:xfrm>
            <a:off x="7877133" y="5926968"/>
            <a:ext cx="1973273" cy="700558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Worker 20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정렬 - 무료 ui개 아이콘">
            <a:extLst>
              <a:ext uri="{FF2B5EF4-FFF2-40B4-BE49-F238E27FC236}">
                <a16:creationId xmlns:a16="http://schemas.microsoft.com/office/drawing/2014/main" id="{8575AA38-E128-3F49-933F-A447B2287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66"/>
          <a:stretch>
            <a:fillRect/>
          </a:stretch>
        </p:blipFill>
        <p:spPr bwMode="auto">
          <a:xfrm>
            <a:off x="4019378" y="990778"/>
            <a:ext cx="2271097" cy="197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A08C38-C98A-E792-2608-FFF503709C2F}"/>
              </a:ext>
            </a:extLst>
          </p:cNvPr>
          <p:cNvSpPr txBox="1"/>
          <p:nvPr/>
        </p:nvSpPr>
        <p:spPr>
          <a:xfrm>
            <a:off x="3936562" y="759946"/>
            <a:ext cx="2440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Aptos Display" panose="020B0004020202020204" pitchFamily="34" charset="0"/>
              </a:rPr>
              <a:t>Sorting Algorithm</a:t>
            </a:r>
            <a:endParaRPr lang="ko-KR" altLang="en-US" sz="1600" dirty="0">
              <a:latin typeface="Aptos Display" panose="020B0004020202020204" pitchFamily="34" charset="0"/>
            </a:endParaRPr>
          </a:p>
        </p:txBody>
      </p: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F512DA3-7AB6-B946-A38B-192EA7AE2C9B}"/>
              </a:ext>
            </a:extLst>
          </p:cNvPr>
          <p:cNvCxnSpPr>
            <a:cxnSpLocks/>
            <a:stCxn id="7" idx="1"/>
            <a:endCxn id="28" idx="3"/>
          </p:cNvCxnSpPr>
          <p:nvPr/>
        </p:nvCxnSpPr>
        <p:spPr>
          <a:xfrm rot="10800000" flipV="1">
            <a:off x="6548287" y="1880495"/>
            <a:ext cx="950077" cy="149741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6" name="연결선: 구부러짐 1045">
            <a:extLst>
              <a:ext uri="{FF2B5EF4-FFF2-40B4-BE49-F238E27FC236}">
                <a16:creationId xmlns:a16="http://schemas.microsoft.com/office/drawing/2014/main" id="{4D54E85B-F582-656F-4AAE-5F065EE0EBEF}"/>
              </a:ext>
            </a:extLst>
          </p:cNvPr>
          <p:cNvCxnSpPr>
            <a:stCxn id="16" idx="3"/>
            <a:endCxn id="28" idx="1"/>
          </p:cNvCxnSpPr>
          <p:nvPr/>
        </p:nvCxnSpPr>
        <p:spPr>
          <a:xfrm flipV="1">
            <a:off x="2548712" y="2030237"/>
            <a:ext cx="1173366" cy="1218869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8625605C-A1D4-A781-F758-BE027437D060}"/>
              </a:ext>
            </a:extLst>
          </p:cNvPr>
          <p:cNvSpPr/>
          <p:nvPr/>
        </p:nvSpPr>
        <p:spPr>
          <a:xfrm>
            <a:off x="7498359" y="4203514"/>
            <a:ext cx="2557615" cy="9860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ptos Display" panose="020B0004020202020204" pitchFamily="34" charset="0"/>
              </a:rPr>
              <a:t>Output data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1053" name="사각형: 둥근 모서리 1052">
            <a:extLst>
              <a:ext uri="{FF2B5EF4-FFF2-40B4-BE49-F238E27FC236}">
                <a16:creationId xmlns:a16="http://schemas.microsoft.com/office/drawing/2014/main" id="{34794977-44E8-6C1C-5400-5B29CB7A97D9}"/>
              </a:ext>
            </a:extLst>
          </p:cNvPr>
          <p:cNvSpPr/>
          <p:nvPr/>
        </p:nvSpPr>
        <p:spPr>
          <a:xfrm>
            <a:off x="3907065" y="5926968"/>
            <a:ext cx="1973273" cy="700558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Worker 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51FE1A14-D5F4-F567-59D1-610CC7BDE7AF}"/>
              </a:ext>
            </a:extLst>
          </p:cNvPr>
          <p:cNvSpPr/>
          <p:nvPr/>
        </p:nvSpPr>
        <p:spPr>
          <a:xfrm>
            <a:off x="6140151" y="5923972"/>
            <a:ext cx="246969" cy="700558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E8525B7-E348-E674-DAEF-3DD3F082E029}"/>
              </a:ext>
            </a:extLst>
          </p:cNvPr>
          <p:cNvSpPr txBox="1"/>
          <p:nvPr/>
        </p:nvSpPr>
        <p:spPr>
          <a:xfrm>
            <a:off x="6829372" y="6023398"/>
            <a:ext cx="56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. . .</a:t>
            </a:r>
            <a:endParaRPr lang="ko-KR" altLang="en-US" sz="2000" b="1" dirty="0"/>
          </a:p>
        </p:txBody>
      </p:sp>
      <p:cxnSp>
        <p:nvCxnSpPr>
          <p:cNvPr id="1057" name="연결선: 구부러짐 1056">
            <a:extLst>
              <a:ext uri="{FF2B5EF4-FFF2-40B4-BE49-F238E27FC236}">
                <a16:creationId xmlns:a16="http://schemas.microsoft.com/office/drawing/2014/main" id="{99DEAAE9-44C0-7690-7556-0A594632648C}"/>
              </a:ext>
            </a:extLst>
          </p:cNvPr>
          <p:cNvCxnSpPr>
            <a:stCxn id="13" idx="3"/>
            <a:endCxn id="19" idx="3"/>
          </p:cNvCxnSpPr>
          <p:nvPr/>
        </p:nvCxnSpPr>
        <p:spPr>
          <a:xfrm flipH="1">
            <a:off x="9850406" y="3980765"/>
            <a:ext cx="205569" cy="2296482"/>
          </a:xfrm>
          <a:prstGeom prst="curvedConnector3">
            <a:avLst>
              <a:gd name="adj1" fmla="val -278607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0" name="Picture 6" descr="git pull과 git merge 비교">
            <a:extLst>
              <a:ext uri="{FF2B5EF4-FFF2-40B4-BE49-F238E27FC236}">
                <a16:creationId xmlns:a16="http://schemas.microsoft.com/office/drawing/2014/main" id="{8573909C-5E72-535A-C0D9-475ED2BD8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163845" y="3436970"/>
            <a:ext cx="1902508" cy="190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사각형: 둥근 모서리 1061">
            <a:extLst>
              <a:ext uri="{FF2B5EF4-FFF2-40B4-BE49-F238E27FC236}">
                <a16:creationId xmlns:a16="http://schemas.microsoft.com/office/drawing/2014/main" id="{1EF32E6D-5F3F-D73F-8507-03D13280B725}"/>
              </a:ext>
            </a:extLst>
          </p:cNvPr>
          <p:cNvSpPr/>
          <p:nvPr/>
        </p:nvSpPr>
        <p:spPr>
          <a:xfrm>
            <a:off x="3716354" y="3314600"/>
            <a:ext cx="2826208" cy="2024313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BE6016C-4006-5855-9A96-BE27812E88CC}"/>
              </a:ext>
            </a:extLst>
          </p:cNvPr>
          <p:cNvSpPr txBox="1"/>
          <p:nvPr/>
        </p:nvSpPr>
        <p:spPr>
          <a:xfrm>
            <a:off x="4473081" y="3060216"/>
            <a:ext cx="131170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Aptos Display" panose="020B0004020202020204" pitchFamily="34" charset="0"/>
              </a:rPr>
              <a:t>Merge</a:t>
            </a:r>
            <a:endParaRPr lang="ko-KR" altLang="en-US" sz="1600" dirty="0">
              <a:latin typeface="Aptos Display" panose="020B0004020202020204" pitchFamily="34" charset="0"/>
            </a:endParaRPr>
          </a:p>
        </p:txBody>
      </p:sp>
      <p:cxnSp>
        <p:nvCxnSpPr>
          <p:cNvPr id="1067" name="연결선: 구부러짐 1066">
            <a:extLst>
              <a:ext uri="{FF2B5EF4-FFF2-40B4-BE49-F238E27FC236}">
                <a16:creationId xmlns:a16="http://schemas.microsoft.com/office/drawing/2014/main" id="{105EA37D-4FE8-EE40-A157-CB92629E3BA3}"/>
              </a:ext>
            </a:extLst>
          </p:cNvPr>
          <p:cNvCxnSpPr>
            <a:cxnSpLocks/>
            <a:stCxn id="10" idx="1"/>
            <a:endCxn id="1062" idx="3"/>
          </p:cNvCxnSpPr>
          <p:nvPr/>
        </p:nvCxnSpPr>
        <p:spPr>
          <a:xfrm rot="10800000" flipV="1">
            <a:off x="6542563" y="2601369"/>
            <a:ext cx="955801" cy="1725388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9" name="연결선: 구부러짐 1068">
            <a:extLst>
              <a:ext uri="{FF2B5EF4-FFF2-40B4-BE49-F238E27FC236}">
                <a16:creationId xmlns:a16="http://schemas.microsoft.com/office/drawing/2014/main" id="{EE0E06F7-2A96-F10B-6A07-881C12605785}"/>
              </a:ext>
            </a:extLst>
          </p:cNvPr>
          <p:cNvCxnSpPr>
            <a:cxnSpLocks/>
            <a:stCxn id="1062" idx="1"/>
            <a:endCxn id="1047" idx="1"/>
          </p:cNvCxnSpPr>
          <p:nvPr/>
        </p:nvCxnSpPr>
        <p:spPr>
          <a:xfrm rot="10800000" flipH="1" flipV="1">
            <a:off x="3716353" y="4326756"/>
            <a:ext cx="3782005" cy="369771"/>
          </a:xfrm>
          <a:prstGeom prst="curvedConnector5">
            <a:avLst>
              <a:gd name="adj1" fmla="val -9684"/>
              <a:gd name="adj2" fmla="val 321229"/>
              <a:gd name="adj3" fmla="val 87364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44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247</Words>
  <Application>Microsoft Office PowerPoint</Application>
  <PresentationFormat>와이드스크린</PresentationFormat>
  <Paragraphs>72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나눔고딕</vt:lpstr>
      <vt:lpstr>Aptos</vt:lpstr>
      <vt:lpstr>Aptos Display</vt:lpstr>
      <vt:lpstr>Arial</vt:lpstr>
      <vt:lpstr>Office Theme</vt:lpstr>
      <vt:lpstr>CS332 Project Presentation</vt:lpstr>
      <vt:lpstr>Problem Definition</vt:lpstr>
      <vt:lpstr>Overall Flow</vt:lpstr>
      <vt:lpstr>Master Design - abstraction</vt:lpstr>
      <vt:lpstr>Current Progress</vt:lpstr>
      <vt:lpstr>Master Plan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이현수(무은재학부)</dc:creator>
  <cp:lastModifiedBy>이준엽(무은재학부)</cp:lastModifiedBy>
  <cp:revision>37</cp:revision>
  <dcterms:created xsi:type="dcterms:W3CDTF">2025-11-14T11:25:25Z</dcterms:created>
  <dcterms:modified xsi:type="dcterms:W3CDTF">2025-11-16T14:48:14Z</dcterms:modified>
</cp:coreProperties>
</file>