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6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8288000" cy="10287000"/>
  <p:notesSz cx="6858000" cy="9144000"/>
  <p:embeddedFontLst>
    <p:embeddedFont>
      <p:font typeface="윤고딕" panose="020B0600000101010101" charset="-127"/>
      <p:regular r:id="rId15"/>
    </p:embeddedFont>
    <p:embeddedFont>
      <p:font typeface="Garet Light" panose="020B0600000101010101" charset="0"/>
      <p:regular r:id="rId16"/>
    </p:embeddedFont>
    <p:embeddedFont>
      <p:font typeface="Glacial Indifference" panose="020B0600000101010101" charset="0"/>
      <p:regular r:id="rId17"/>
    </p:embeddedFont>
    <p:embeddedFont>
      <p:font typeface="맑은 고딕" panose="020B0503020000020004" pitchFamily="50" charset="-127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102" y="5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380ACF-771A-42F8-8828-7DB254F7E161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523270-F81C-4C3D-B6EA-D56E8B90D3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4574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D091-C2AB-504C-8DCF-40E70763B075}" type="slidenum">
              <a:rPr lang="en-KR" smtClean="0"/>
              <a:t>7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27429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Worker </a:t>
            </a:r>
            <a:r>
              <a:rPr lang="ko-KR" altLang="en-US" dirty="0"/>
              <a:t>관점에서 문제가 발생했을 때 </a:t>
            </a:r>
            <a:r>
              <a:rPr lang="en-US" altLang="ko-KR" dirty="0"/>
              <a:t>master</a:t>
            </a:r>
            <a:r>
              <a:rPr lang="ko-KR" altLang="en-US" dirty="0"/>
              <a:t>만 호출하면 됨</a:t>
            </a:r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D091-C2AB-504C-8DCF-40E70763B075}" type="slidenum">
              <a:rPr lang="en-KR" smtClean="0"/>
              <a:t>8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291109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-290868" y="9827939"/>
            <a:ext cx="18869735" cy="30083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4007948" y="2792358"/>
            <a:ext cx="10272104" cy="3037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23"/>
              </a:lnSpc>
            </a:pPr>
            <a:r>
              <a:rPr lang="en-US" sz="10368" spc="-103">
                <a:solidFill>
                  <a:srgbClr val="19191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Progress Presentation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8720382"/>
            <a:ext cx="2975952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191919"/>
                </a:solidFill>
                <a:latin typeface="Garet Light"/>
                <a:ea typeface="Garet Light"/>
                <a:cs typeface="Garet Light"/>
                <a:sym typeface="Garet Light"/>
              </a:rPr>
              <a:t>Navy Team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86557" y="8710857"/>
            <a:ext cx="4172743" cy="547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475"/>
              </a:lnSpc>
              <a:spcBef>
                <a:spcPct val="0"/>
              </a:spcBef>
            </a:pPr>
            <a:r>
              <a:rPr lang="en-US" sz="3197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박민혁, 이준엽, 이현수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206108" y="944123"/>
            <a:ext cx="3104115" cy="79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Our Plan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58167" y="3721851"/>
            <a:ext cx="6547634" cy="4816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Week 1~2: Midterm &amp; Planning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8166" y="4965182"/>
            <a:ext cx="8370571" cy="507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Week 3~5: Study &amp; Design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58166" y="6208514"/>
            <a:ext cx="8370571" cy="507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Week 6: Code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58166" y="7451845"/>
            <a:ext cx="8370571" cy="507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Week 7~8: Test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8D081E82-84FE-7ACE-53FE-74CE11DAD537}"/>
              </a:ext>
            </a:extLst>
          </p:cNvPr>
          <p:cNvSpPr txBox="1"/>
          <p:nvPr/>
        </p:nvSpPr>
        <p:spPr>
          <a:xfrm>
            <a:off x="9982200" y="7477541"/>
            <a:ext cx="6547634" cy="4816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Meeting: Once a week, face-to-face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5203347" y="2436060"/>
            <a:ext cx="5459632" cy="5414881"/>
          </a:xfrm>
          <a:custGeom>
            <a:avLst/>
            <a:gdLst/>
            <a:ahLst/>
            <a:cxnLst/>
            <a:rect l="l" t="t" r="r" b="b"/>
            <a:pathLst>
              <a:path w="5459632" h="5414881">
                <a:moveTo>
                  <a:pt x="0" y="0"/>
                </a:moveTo>
                <a:lnTo>
                  <a:pt x="5459632" y="0"/>
                </a:lnTo>
                <a:lnTo>
                  <a:pt x="5459632" y="5414881"/>
                </a:lnTo>
                <a:lnTo>
                  <a:pt x="0" y="541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8" name="Freeform 8"/>
          <p:cNvSpPr/>
          <p:nvPr/>
        </p:nvSpPr>
        <p:spPr>
          <a:xfrm>
            <a:off x="1722547" y="2376674"/>
            <a:ext cx="2740547" cy="5474267"/>
          </a:xfrm>
          <a:custGeom>
            <a:avLst/>
            <a:gdLst/>
            <a:ahLst/>
            <a:cxnLst/>
            <a:rect l="l" t="t" r="r" b="b"/>
            <a:pathLst>
              <a:path w="2740547" h="5474267">
                <a:moveTo>
                  <a:pt x="0" y="0"/>
                </a:moveTo>
                <a:lnTo>
                  <a:pt x="2740547" y="0"/>
                </a:lnTo>
                <a:lnTo>
                  <a:pt x="2740547" y="5474267"/>
                </a:lnTo>
                <a:lnTo>
                  <a:pt x="0" y="54742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22520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0" y="944123"/>
            <a:ext cx="4463094" cy="79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How we worked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F4830AE-107B-FAF3-1527-E694DD4D0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3232" y="1117266"/>
            <a:ext cx="6773220" cy="8030696"/>
          </a:xfrm>
          <a:prstGeom prst="rect">
            <a:avLst/>
          </a:prstGeom>
        </p:spPr>
      </p:pic>
      <p:pic>
        <p:nvPicPr>
          <p:cNvPr id="1026" name="Picture 2" descr="Notion - 나무위키">
            <a:extLst>
              <a:ext uri="{FF2B5EF4-FFF2-40B4-BE49-F238E27FC236}">
                <a16:creationId xmlns:a16="http://schemas.microsoft.com/office/drawing/2014/main" id="{1684EF96-3529-9C70-F5FB-31579A413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281" y="595580"/>
            <a:ext cx="1446131" cy="1491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/>
        </p:nvSpPr>
        <p:spPr>
          <a:xfrm>
            <a:off x="1361963" y="2633251"/>
            <a:ext cx="3079360" cy="5887162"/>
          </a:xfrm>
          <a:custGeom>
            <a:avLst/>
            <a:gdLst/>
            <a:ahLst/>
            <a:cxnLst/>
            <a:rect l="l" t="t" r="r" b="b"/>
            <a:pathLst>
              <a:path w="3079360" h="5887162">
                <a:moveTo>
                  <a:pt x="0" y="0"/>
                </a:moveTo>
                <a:lnTo>
                  <a:pt x="3079360" y="0"/>
                </a:lnTo>
                <a:lnTo>
                  <a:pt x="3079360" y="5887162"/>
                </a:lnTo>
                <a:lnTo>
                  <a:pt x="0" y="5887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58465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9" name="Freeform 9"/>
          <p:cNvSpPr/>
          <p:nvPr/>
        </p:nvSpPr>
        <p:spPr>
          <a:xfrm>
            <a:off x="6150428" y="2642343"/>
            <a:ext cx="3844526" cy="5878070"/>
          </a:xfrm>
          <a:custGeom>
            <a:avLst/>
            <a:gdLst/>
            <a:ahLst/>
            <a:cxnLst/>
            <a:rect l="l" t="t" r="r" b="b"/>
            <a:pathLst>
              <a:path w="3844526" h="5878070">
                <a:moveTo>
                  <a:pt x="0" y="0"/>
                </a:moveTo>
                <a:lnTo>
                  <a:pt x="3844526" y="0"/>
                </a:lnTo>
                <a:lnTo>
                  <a:pt x="3844526" y="5878070"/>
                </a:lnTo>
                <a:lnTo>
                  <a:pt x="0" y="58780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52698"/>
            </a:stretch>
          </a:blipFill>
        </p:spPr>
        <p:txBody>
          <a:bodyPr/>
          <a:lstStyle/>
          <a:p>
            <a:endParaRPr lang="ko-KR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0" y="944123"/>
            <a:ext cx="4463094" cy="79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How we worked</a:t>
            </a:r>
          </a:p>
        </p:txBody>
      </p:sp>
      <p:pic>
        <p:nvPicPr>
          <p:cNvPr id="2052" name="Picture 4" descr="Discord - 나무위키">
            <a:extLst>
              <a:ext uri="{FF2B5EF4-FFF2-40B4-BE49-F238E27FC236}">
                <a16:creationId xmlns:a16="http://schemas.microsoft.com/office/drawing/2014/main" id="{04FE85E6-587F-B754-A948-0A1A14B3A6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3094" y="492438"/>
            <a:ext cx="1698220" cy="1698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2A71869-6A2C-30CB-4685-A62112442F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2187" y="4514646"/>
            <a:ext cx="5553850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821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206108" y="944123"/>
            <a:ext cx="12062092" cy="776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sz="4706" spc="-65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How It went(with The Mythical Man-Month)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6F94253F-F464-D49B-7A2A-50F5016555C5}"/>
              </a:ext>
            </a:extLst>
          </p:cNvPr>
          <p:cNvSpPr txBox="1"/>
          <p:nvPr/>
        </p:nvSpPr>
        <p:spPr>
          <a:xfrm>
            <a:off x="990600" y="5143500"/>
            <a:ext cx="6547634" cy="4816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The Surgical Team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8D081E82-84FE-7ACE-53FE-74CE11DAD537}"/>
              </a:ext>
            </a:extLst>
          </p:cNvPr>
          <p:cNvSpPr txBox="1"/>
          <p:nvPr/>
        </p:nvSpPr>
        <p:spPr>
          <a:xfrm>
            <a:off x="10744323" y="4321629"/>
            <a:ext cx="6547634" cy="4816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Calling the Shot</a:t>
            </a: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7245B168-93E8-0F42-C533-1C4182C18483}"/>
              </a:ext>
            </a:extLst>
          </p:cNvPr>
          <p:cNvSpPr txBox="1"/>
          <p:nvPr/>
        </p:nvSpPr>
        <p:spPr>
          <a:xfrm>
            <a:off x="990600" y="6667500"/>
            <a:ext cx="6547634" cy="4816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Ten Pounds in a Five-Pound Sack</a:t>
            </a: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9AE3FE7C-AA32-5CDF-CD7E-8B49424EB2D4}"/>
              </a:ext>
            </a:extLst>
          </p:cNvPr>
          <p:cNvSpPr txBox="1"/>
          <p:nvPr/>
        </p:nvSpPr>
        <p:spPr>
          <a:xfrm>
            <a:off x="10727994" y="5829300"/>
            <a:ext cx="6547634" cy="4816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Why Did the Tower of Babel Fail?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D4813D73-36CE-A3BE-28D9-6FBD95ED6EC8}"/>
              </a:ext>
            </a:extLst>
          </p:cNvPr>
          <p:cNvSpPr txBox="1"/>
          <p:nvPr/>
        </p:nvSpPr>
        <p:spPr>
          <a:xfrm>
            <a:off x="10706223" y="7429500"/>
            <a:ext cx="6547634" cy="4816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dirty="0">
                <a:solidFill>
                  <a:srgbClr val="191919"/>
                </a:solidFill>
                <a:latin typeface="윤고딕"/>
                <a:ea typeface="윤고딕"/>
                <a:cs typeface="윤고딕"/>
                <a:sym typeface="윤고딕"/>
              </a:rPr>
              <a:t>The Documentary Hypothesis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DD5EC9F-C044-6A32-3D98-6002CDDB0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577939"/>
            <a:ext cx="1219370" cy="130510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29C01DC-42C8-0C24-5D2F-F0C929762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6223" y="2596992"/>
            <a:ext cx="1247949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679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F49C3-A872-02A1-0D03-46F8CC16F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Definition</a:t>
            </a:r>
            <a:endParaRPr lang="en-KR" dirty="0"/>
          </a:p>
        </p:txBody>
      </p:sp>
      <p:pic>
        <p:nvPicPr>
          <p:cNvPr id="5" name="Graphic 4" descr="Crown with solid fill">
            <a:extLst>
              <a:ext uri="{FF2B5EF4-FFF2-40B4-BE49-F238E27FC236}">
                <a16:creationId xmlns:a16="http://schemas.microsoft.com/office/drawing/2014/main" id="{C44B1878-4738-1638-A41B-5061EB576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58200" y="1541859"/>
            <a:ext cx="1371600" cy="1371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C5E866-3723-1971-925E-6FD119AA167F}"/>
              </a:ext>
            </a:extLst>
          </p:cNvPr>
          <p:cNvSpPr/>
          <p:nvPr/>
        </p:nvSpPr>
        <p:spPr>
          <a:xfrm>
            <a:off x="2422733" y="5691500"/>
            <a:ext cx="1589519" cy="7691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dirty="0" err="1"/>
              <a:t>cpu</a:t>
            </a:r>
            <a:endParaRPr lang="en-KR" sz="27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A9701C-E5CB-A7CA-315E-C990A29067CA}"/>
              </a:ext>
            </a:extLst>
          </p:cNvPr>
          <p:cNvSpPr/>
          <p:nvPr/>
        </p:nvSpPr>
        <p:spPr>
          <a:xfrm>
            <a:off x="2422732" y="6740497"/>
            <a:ext cx="1589519" cy="7691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dirty="0"/>
              <a:t>RAM</a:t>
            </a:r>
            <a:endParaRPr lang="en-KR" sz="27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3E9FE4-69D7-5108-010A-AF1090DBE232}"/>
              </a:ext>
            </a:extLst>
          </p:cNvPr>
          <p:cNvSpPr/>
          <p:nvPr/>
        </p:nvSpPr>
        <p:spPr>
          <a:xfrm>
            <a:off x="2422730" y="7789493"/>
            <a:ext cx="1589519" cy="7691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dirty="0"/>
              <a:t>disk</a:t>
            </a:r>
            <a:endParaRPr lang="en-KR" sz="270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B4108BD-1559-E692-B373-1C0D579D173E}"/>
              </a:ext>
            </a:extLst>
          </p:cNvPr>
          <p:cNvSpPr/>
          <p:nvPr/>
        </p:nvSpPr>
        <p:spPr>
          <a:xfrm>
            <a:off x="2006122" y="5171807"/>
            <a:ext cx="2422733" cy="3906497"/>
          </a:xfrm>
          <a:prstGeom prst="roundRect">
            <a:avLst/>
          </a:prstGeom>
          <a:solidFill>
            <a:srgbClr val="7F7F7F">
              <a:alpha val="2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27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491076-E554-6F88-A483-1504060396B9}"/>
              </a:ext>
            </a:extLst>
          </p:cNvPr>
          <p:cNvSpPr/>
          <p:nvPr/>
        </p:nvSpPr>
        <p:spPr>
          <a:xfrm>
            <a:off x="5650907" y="5663194"/>
            <a:ext cx="1589519" cy="7691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dirty="0" err="1"/>
              <a:t>cpu</a:t>
            </a:r>
            <a:endParaRPr lang="en-KR" sz="27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739CD2-8471-0AE0-B0BE-0F00E952CDBC}"/>
              </a:ext>
            </a:extLst>
          </p:cNvPr>
          <p:cNvSpPr/>
          <p:nvPr/>
        </p:nvSpPr>
        <p:spPr>
          <a:xfrm>
            <a:off x="5650906" y="6712190"/>
            <a:ext cx="1589519" cy="7691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dirty="0"/>
              <a:t>RAM</a:t>
            </a:r>
            <a:endParaRPr lang="en-KR" sz="27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C0EF08-2BC7-0FFA-C067-8C230D61634A}"/>
              </a:ext>
            </a:extLst>
          </p:cNvPr>
          <p:cNvSpPr/>
          <p:nvPr/>
        </p:nvSpPr>
        <p:spPr>
          <a:xfrm>
            <a:off x="5650904" y="7761187"/>
            <a:ext cx="1589519" cy="7691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dirty="0"/>
              <a:t>disk</a:t>
            </a:r>
            <a:endParaRPr lang="en-KR" sz="2700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42C55DF-0D4C-E3BB-3352-A9DE156EEC89}"/>
              </a:ext>
            </a:extLst>
          </p:cNvPr>
          <p:cNvSpPr/>
          <p:nvPr/>
        </p:nvSpPr>
        <p:spPr>
          <a:xfrm>
            <a:off x="5234296" y="5143501"/>
            <a:ext cx="2422733" cy="3906497"/>
          </a:xfrm>
          <a:prstGeom prst="roundRect">
            <a:avLst/>
          </a:prstGeom>
          <a:solidFill>
            <a:srgbClr val="7F7F7F">
              <a:alpha val="2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27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76D740-1E65-757E-FEB8-85D3C6CFBEDD}"/>
              </a:ext>
            </a:extLst>
          </p:cNvPr>
          <p:cNvSpPr/>
          <p:nvPr/>
        </p:nvSpPr>
        <p:spPr>
          <a:xfrm>
            <a:off x="14275759" y="5691500"/>
            <a:ext cx="1589519" cy="7691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dirty="0" err="1"/>
              <a:t>cpu</a:t>
            </a:r>
            <a:endParaRPr lang="en-KR" sz="27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D23106-2EFC-EE14-3F9F-363D35B1863E}"/>
              </a:ext>
            </a:extLst>
          </p:cNvPr>
          <p:cNvSpPr/>
          <p:nvPr/>
        </p:nvSpPr>
        <p:spPr>
          <a:xfrm>
            <a:off x="14275757" y="6740497"/>
            <a:ext cx="1589519" cy="7691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dirty="0"/>
              <a:t>RAM</a:t>
            </a:r>
            <a:endParaRPr lang="en-KR" sz="27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5CB4D1-9E07-D34E-E61F-A5D956240E0B}"/>
              </a:ext>
            </a:extLst>
          </p:cNvPr>
          <p:cNvSpPr/>
          <p:nvPr/>
        </p:nvSpPr>
        <p:spPr>
          <a:xfrm>
            <a:off x="14275756" y="7789493"/>
            <a:ext cx="1589519" cy="76912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dirty="0"/>
              <a:t>disk</a:t>
            </a:r>
            <a:endParaRPr lang="en-KR" sz="2700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EA300E0-A8DD-F250-2404-2EE17C0AC6E5}"/>
              </a:ext>
            </a:extLst>
          </p:cNvPr>
          <p:cNvSpPr/>
          <p:nvPr/>
        </p:nvSpPr>
        <p:spPr>
          <a:xfrm>
            <a:off x="13859147" y="5171807"/>
            <a:ext cx="2422733" cy="3906497"/>
          </a:xfrm>
          <a:prstGeom prst="roundRect">
            <a:avLst/>
          </a:prstGeom>
          <a:solidFill>
            <a:srgbClr val="7F7F7F">
              <a:alpha val="2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27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3ED6FD-3B33-156A-F374-2B4C6E1292B7}"/>
              </a:ext>
            </a:extLst>
          </p:cNvPr>
          <p:cNvSpPr txBox="1"/>
          <p:nvPr/>
        </p:nvSpPr>
        <p:spPr>
          <a:xfrm>
            <a:off x="10471710" y="6197182"/>
            <a:ext cx="423514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700" dirty="0"/>
              <a:t>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B84C4B-DA12-07A0-3A50-F33E3D88900C}"/>
              </a:ext>
            </a:extLst>
          </p:cNvPr>
          <p:cNvSpPr txBox="1"/>
          <p:nvPr/>
        </p:nvSpPr>
        <p:spPr>
          <a:xfrm>
            <a:off x="2481275" y="4630157"/>
            <a:ext cx="134370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700" dirty="0"/>
              <a:t>worker0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727A12-6719-B5F7-4437-C6D41B134FD1}"/>
              </a:ext>
            </a:extLst>
          </p:cNvPr>
          <p:cNvSpPr txBox="1"/>
          <p:nvPr/>
        </p:nvSpPr>
        <p:spPr>
          <a:xfrm>
            <a:off x="5709449" y="4639052"/>
            <a:ext cx="134370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700" dirty="0"/>
              <a:t>worker1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EB3D8F-1516-1522-8E30-DF4B590D5C62}"/>
              </a:ext>
            </a:extLst>
          </p:cNvPr>
          <p:cNvSpPr txBox="1"/>
          <p:nvPr/>
        </p:nvSpPr>
        <p:spPr>
          <a:xfrm>
            <a:off x="14334304" y="4630157"/>
            <a:ext cx="151842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700" dirty="0"/>
              <a:t>worker19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9515051-8C64-ED2A-16CC-9EE4BD95B717}"/>
              </a:ext>
            </a:extLst>
          </p:cNvPr>
          <p:cNvCxnSpPr>
            <a:endCxn id="19" idx="0"/>
          </p:cNvCxnSpPr>
          <p:nvPr/>
        </p:nvCxnSpPr>
        <p:spPr>
          <a:xfrm flipH="1">
            <a:off x="3153126" y="2913460"/>
            <a:ext cx="5990874" cy="17166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38D8B6F-F970-9772-182D-CCA2DDA4B1D0}"/>
              </a:ext>
            </a:extLst>
          </p:cNvPr>
          <p:cNvCxnSpPr>
            <a:cxnSpLocks/>
            <a:endCxn id="20" idx="0"/>
          </p:cNvCxnSpPr>
          <p:nvPr/>
        </p:nvCxnSpPr>
        <p:spPr>
          <a:xfrm flipH="1">
            <a:off x="6381300" y="2913460"/>
            <a:ext cx="2762700" cy="17255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D9B50C4-9AA9-8543-837A-D3C7CF2EFA1B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9144001" y="2918764"/>
            <a:ext cx="5949518" cy="17113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CF2005E-BDF9-91A1-F8B3-CE3DCED06F9F}"/>
              </a:ext>
            </a:extLst>
          </p:cNvPr>
          <p:cNvSpPr txBox="1"/>
          <p:nvPr/>
        </p:nvSpPr>
        <p:spPr>
          <a:xfrm>
            <a:off x="10471710" y="2086328"/>
            <a:ext cx="621351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b="1" dirty="0"/>
              <a:t>step1</a:t>
            </a:r>
            <a:r>
              <a:rPr lang="en-KR" sz="2700" b="1" dirty="0"/>
              <a:t>. </a:t>
            </a:r>
            <a:r>
              <a:rPr lang="en-KR" sz="2700" dirty="0"/>
              <a:t>master samples some data </a:t>
            </a:r>
            <a:r>
              <a:rPr lang="en-US" sz="2700" dirty="0"/>
              <a:t>from workers and determines the key range each worker will be responsible for</a:t>
            </a:r>
            <a:endParaRPr lang="en-KR" sz="27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C1F137-54C1-DD4D-D723-53339121144E}"/>
              </a:ext>
            </a:extLst>
          </p:cNvPr>
          <p:cNvSpPr txBox="1"/>
          <p:nvPr/>
        </p:nvSpPr>
        <p:spPr>
          <a:xfrm>
            <a:off x="8458200" y="1311784"/>
            <a:ext cx="1161280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700" dirty="0"/>
              <a:t>master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5223EE-3E22-4796-F964-2FD19111A6B4}"/>
              </a:ext>
            </a:extLst>
          </p:cNvPr>
          <p:cNvSpPr txBox="1"/>
          <p:nvPr/>
        </p:nvSpPr>
        <p:spPr>
          <a:xfrm>
            <a:off x="830486" y="2633584"/>
            <a:ext cx="62135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b="1" dirty="0"/>
              <a:t>step2</a:t>
            </a:r>
            <a:r>
              <a:rPr lang="en-KR" sz="2700" b="1" dirty="0"/>
              <a:t>. </a:t>
            </a:r>
            <a:r>
              <a:rPr lang="en-US" sz="2700" dirty="0"/>
              <a:t>each worker splits its local data into chunks, sorts it, and then partitions the sorted data according to the global key ranges</a:t>
            </a:r>
            <a:endParaRPr lang="en-KR" sz="2700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F934F2B-F68E-FEBE-0D8D-A0D4DBF9ABA6}"/>
              </a:ext>
            </a:extLst>
          </p:cNvPr>
          <p:cNvCxnSpPr>
            <a:cxnSpLocks/>
          </p:cNvCxnSpPr>
          <p:nvPr/>
        </p:nvCxnSpPr>
        <p:spPr>
          <a:xfrm>
            <a:off x="9791836" y="6030720"/>
            <a:ext cx="17238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2BE3DDC-5E0C-759D-5194-240496091A20}"/>
              </a:ext>
            </a:extLst>
          </p:cNvPr>
          <p:cNvCxnSpPr>
            <a:cxnSpLocks/>
          </p:cNvCxnSpPr>
          <p:nvPr/>
        </p:nvCxnSpPr>
        <p:spPr>
          <a:xfrm flipH="1">
            <a:off x="9774427" y="6197181"/>
            <a:ext cx="17412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B8AA17C-CDAA-A9E6-DD85-52F156F8C0ED}"/>
              </a:ext>
            </a:extLst>
          </p:cNvPr>
          <p:cNvSpPr txBox="1"/>
          <p:nvPr/>
        </p:nvSpPr>
        <p:spPr>
          <a:xfrm>
            <a:off x="8208022" y="5038347"/>
            <a:ext cx="51001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b="1" dirty="0"/>
              <a:t>step3</a:t>
            </a:r>
            <a:r>
              <a:rPr lang="en-KR" sz="2700" b="1" dirty="0"/>
              <a:t>.</a:t>
            </a:r>
            <a:r>
              <a:rPr lang="en-US" sz="2700" dirty="0"/>
              <a:t> workers exchanged the partitioned data with each other</a:t>
            </a:r>
            <a:endParaRPr lang="en-KR" sz="27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771CA2B-182B-AAB3-112E-C03D8A83D1EF}"/>
              </a:ext>
            </a:extLst>
          </p:cNvPr>
          <p:cNvSpPr txBox="1"/>
          <p:nvPr/>
        </p:nvSpPr>
        <p:spPr>
          <a:xfrm>
            <a:off x="8156063" y="7223579"/>
            <a:ext cx="62135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b="1" dirty="0"/>
              <a:t>step4</a:t>
            </a:r>
            <a:r>
              <a:rPr lang="en-KR" sz="2700" b="1" dirty="0"/>
              <a:t>. </a:t>
            </a:r>
            <a:r>
              <a:rPr lang="en-US" sz="2700" dirty="0"/>
              <a:t>each worker merge the data sorted in their own disk</a:t>
            </a:r>
            <a:endParaRPr lang="en-KR" sz="2700" dirty="0"/>
          </a:p>
        </p:txBody>
      </p:sp>
    </p:spTree>
    <p:extLst>
      <p:ext uri="{BB962C8B-B14F-4D97-AF65-F5344CB8AC3E}">
        <p14:creationId xmlns:p14="http://schemas.microsoft.com/office/powerpoint/2010/main" val="73279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A7A2B09-A077-66D3-83EA-04DC78053BED}"/>
              </a:ext>
            </a:extLst>
          </p:cNvPr>
          <p:cNvSpPr/>
          <p:nvPr/>
        </p:nvSpPr>
        <p:spPr>
          <a:xfrm>
            <a:off x="1257301" y="4149328"/>
            <a:ext cx="4085561" cy="19883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dirty="0"/>
              <a:t>master</a:t>
            </a:r>
            <a:endParaRPr lang="en-KR" sz="27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F33CDAD-A31F-82A2-A71F-6CB23300E86B}"/>
              </a:ext>
            </a:extLst>
          </p:cNvPr>
          <p:cNvSpPr/>
          <p:nvPr/>
        </p:nvSpPr>
        <p:spPr>
          <a:xfrm>
            <a:off x="12998305" y="1456937"/>
            <a:ext cx="2169041" cy="2169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700" dirty="0"/>
              <a:t>worker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224500F-2AF6-F6AB-42B0-7E63468E9EC0}"/>
              </a:ext>
            </a:extLst>
          </p:cNvPr>
          <p:cNvSpPr/>
          <p:nvPr/>
        </p:nvSpPr>
        <p:spPr>
          <a:xfrm>
            <a:off x="12998305" y="4058978"/>
            <a:ext cx="2169041" cy="2169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700" dirty="0"/>
              <a:t>worker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416FFEC-0135-EEB7-FB26-7CD9B2549F4E}"/>
              </a:ext>
            </a:extLst>
          </p:cNvPr>
          <p:cNvSpPr/>
          <p:nvPr/>
        </p:nvSpPr>
        <p:spPr>
          <a:xfrm>
            <a:off x="12998305" y="7028398"/>
            <a:ext cx="2169041" cy="2169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700" dirty="0"/>
              <a:t>worker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E4FBF5B-AF0E-CBA0-7A51-A1C3D8807338}"/>
              </a:ext>
            </a:extLst>
          </p:cNvPr>
          <p:cNvCxnSpPr>
            <a:cxnSpLocks/>
            <a:stCxn id="5" idx="2"/>
            <a:endCxn id="4" idx="3"/>
          </p:cNvCxnSpPr>
          <p:nvPr/>
        </p:nvCxnSpPr>
        <p:spPr>
          <a:xfrm flipH="1">
            <a:off x="5342861" y="2541458"/>
            <a:ext cx="7655444" cy="260204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FB72394-EE8A-ACC3-2DEE-942A89B21874}"/>
              </a:ext>
            </a:extLst>
          </p:cNvPr>
          <p:cNvSpPr txBox="1"/>
          <p:nvPr/>
        </p:nvSpPr>
        <p:spPr>
          <a:xfrm>
            <a:off x="5952453" y="2672357"/>
            <a:ext cx="5992346" cy="50783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700" dirty="0">
                <a:solidFill>
                  <a:srgbClr val="FF0000"/>
                </a:solidFill>
              </a:rPr>
              <a:t>1. Register each worker’s </a:t>
            </a:r>
            <a:r>
              <a:rPr lang="en-US" sz="2700" dirty="0" err="1">
                <a:solidFill>
                  <a:srgbClr val="FF0000"/>
                </a:solidFill>
              </a:rPr>
              <a:t>ip</a:t>
            </a:r>
            <a:r>
              <a:rPr lang="en-US" sz="2700" dirty="0">
                <a:solidFill>
                  <a:srgbClr val="FF0000"/>
                </a:solidFill>
              </a:rPr>
              <a:t> to the master</a:t>
            </a:r>
            <a:endParaRPr lang="en-KR" sz="2700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0E410A-174E-75B3-E8C5-DF91797A78CE}"/>
              </a:ext>
            </a:extLst>
          </p:cNvPr>
          <p:cNvCxnSpPr>
            <a:cxnSpLocks/>
            <a:endCxn id="4" idx="3"/>
          </p:cNvCxnSpPr>
          <p:nvPr/>
        </p:nvCxnSpPr>
        <p:spPr>
          <a:xfrm flipH="1">
            <a:off x="5342861" y="5143497"/>
            <a:ext cx="7655444" cy="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CDD90A9-0B24-0CC9-1398-E57F2544EE4A}"/>
              </a:ext>
            </a:extLst>
          </p:cNvPr>
          <p:cNvCxnSpPr>
            <a:cxnSpLocks/>
            <a:stCxn id="7" idx="2"/>
            <a:endCxn id="4" idx="3"/>
          </p:cNvCxnSpPr>
          <p:nvPr/>
        </p:nvCxnSpPr>
        <p:spPr>
          <a:xfrm flipH="1" flipV="1">
            <a:off x="5342861" y="5143500"/>
            <a:ext cx="7655444" cy="29694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7525031-2A82-3EF2-2FBD-9DBC147371A3}"/>
              </a:ext>
            </a:extLst>
          </p:cNvPr>
          <p:cNvSpPr txBox="1"/>
          <p:nvPr/>
        </p:nvSpPr>
        <p:spPr>
          <a:xfrm>
            <a:off x="6540502" y="6759589"/>
            <a:ext cx="295901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>
                <a:solidFill>
                  <a:schemeClr val="accent3"/>
                </a:solidFill>
              </a:rPr>
              <a:t>3. Sampling request</a:t>
            </a:r>
            <a:endParaRPr lang="en-KR" sz="2700" dirty="0">
              <a:solidFill>
                <a:schemeClr val="accent3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3F67C8A-22F3-AFA3-2B85-E63E63F501E0}"/>
              </a:ext>
            </a:extLst>
          </p:cNvPr>
          <p:cNvCxnSpPr>
            <a:stCxn id="4" idx="3"/>
            <a:endCxn id="6" idx="2"/>
          </p:cNvCxnSpPr>
          <p:nvPr/>
        </p:nvCxnSpPr>
        <p:spPr>
          <a:xfrm flipV="1">
            <a:off x="5342861" y="5143499"/>
            <a:ext cx="7655444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6B1FBD-EDFB-D877-8C0A-969FD79EA800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5342861" y="2541458"/>
            <a:ext cx="7655444" cy="2602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A285959-9533-6B1C-2441-64A54C1A5A74}"/>
              </a:ext>
            </a:extLst>
          </p:cNvPr>
          <p:cNvCxnSpPr>
            <a:cxnSpLocks/>
            <a:stCxn id="4" idx="3"/>
            <a:endCxn id="7" idx="2"/>
          </p:cNvCxnSpPr>
          <p:nvPr/>
        </p:nvCxnSpPr>
        <p:spPr>
          <a:xfrm>
            <a:off x="5342861" y="5143500"/>
            <a:ext cx="7655444" cy="29694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DD7C031-471F-B9D5-179D-CD64D6883C2F}"/>
              </a:ext>
            </a:extLst>
          </p:cNvPr>
          <p:cNvSpPr txBox="1"/>
          <p:nvPr/>
        </p:nvSpPr>
        <p:spPr>
          <a:xfrm>
            <a:off x="7107902" y="5259047"/>
            <a:ext cx="4330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2700" dirty="0">
                <a:solidFill>
                  <a:schemeClr val="tx2"/>
                </a:solidFill>
              </a:rPr>
              <a:t>2. </a:t>
            </a:r>
            <a:r>
              <a:rPr lang="en-US" sz="2700" dirty="0">
                <a:solidFill>
                  <a:schemeClr val="tx2"/>
                </a:solidFill>
              </a:rPr>
              <a:t>G</a:t>
            </a:r>
            <a:r>
              <a:rPr lang="en-KR" sz="2700" dirty="0">
                <a:solidFill>
                  <a:schemeClr val="tx2"/>
                </a:solidFill>
              </a:rPr>
              <a:t>ather the all I</a:t>
            </a:r>
            <a:r>
              <a:rPr lang="en-US" sz="2700" dirty="0">
                <a:solidFill>
                  <a:schemeClr val="tx2"/>
                </a:solidFill>
              </a:rPr>
              <a:t>p</a:t>
            </a:r>
            <a:r>
              <a:rPr lang="en-KR" sz="2700" dirty="0">
                <a:solidFill>
                  <a:schemeClr val="tx2"/>
                </a:solidFill>
              </a:rPr>
              <a:t>s and send them back to all workers</a:t>
            </a:r>
          </a:p>
        </p:txBody>
      </p:sp>
      <p:sp>
        <p:nvSpPr>
          <p:cNvPr id="38" name="Down Arrow 37">
            <a:extLst>
              <a:ext uri="{FF2B5EF4-FFF2-40B4-BE49-F238E27FC236}">
                <a16:creationId xmlns:a16="http://schemas.microsoft.com/office/drawing/2014/main" id="{AA5A5780-9CAF-1E8E-AEB7-D0559EDDEAD3}"/>
              </a:ext>
            </a:extLst>
          </p:cNvPr>
          <p:cNvSpPr/>
          <p:nvPr/>
        </p:nvSpPr>
        <p:spPr>
          <a:xfrm rot="4131090">
            <a:off x="9699885" y="2724877"/>
            <a:ext cx="448599" cy="2633144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2700"/>
          </a:p>
        </p:txBody>
      </p:sp>
      <p:sp>
        <p:nvSpPr>
          <p:cNvPr id="39" name="Down Arrow 38">
            <a:extLst>
              <a:ext uri="{FF2B5EF4-FFF2-40B4-BE49-F238E27FC236}">
                <a16:creationId xmlns:a16="http://schemas.microsoft.com/office/drawing/2014/main" id="{3F677DFB-A41B-F876-467E-6BE1D644F744}"/>
              </a:ext>
            </a:extLst>
          </p:cNvPr>
          <p:cNvSpPr/>
          <p:nvPr/>
        </p:nvSpPr>
        <p:spPr>
          <a:xfrm rot="5400000">
            <a:off x="9733674" y="4288975"/>
            <a:ext cx="448599" cy="2567270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2700"/>
          </a:p>
        </p:txBody>
      </p:sp>
      <p:sp>
        <p:nvSpPr>
          <p:cNvPr id="40" name="Down Arrow 39">
            <a:extLst>
              <a:ext uri="{FF2B5EF4-FFF2-40B4-BE49-F238E27FC236}">
                <a16:creationId xmlns:a16="http://schemas.microsoft.com/office/drawing/2014/main" id="{551D02D0-D4DE-E264-D584-D9E17D1AFED7}"/>
              </a:ext>
            </a:extLst>
          </p:cNvPr>
          <p:cNvSpPr/>
          <p:nvPr/>
        </p:nvSpPr>
        <p:spPr>
          <a:xfrm rot="6659656">
            <a:off x="9631412" y="5365082"/>
            <a:ext cx="448599" cy="2358593"/>
          </a:xfrm>
          <a:prstGeom prst="downArrow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27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7881BE5-96A6-1D21-056F-51D4E112AAFB}"/>
              </a:ext>
            </a:extLst>
          </p:cNvPr>
          <p:cNvSpPr txBox="1"/>
          <p:nvPr/>
        </p:nvSpPr>
        <p:spPr>
          <a:xfrm>
            <a:off x="9104777" y="4448644"/>
            <a:ext cx="340888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2700" dirty="0">
                <a:solidFill>
                  <a:schemeClr val="accent4"/>
                </a:solidFill>
              </a:rPr>
              <a:t>4. return sample datas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78AA5E9-F3BA-F59A-BF1F-54AD66387ACF}"/>
              </a:ext>
            </a:extLst>
          </p:cNvPr>
          <p:cNvSpPr txBox="1"/>
          <p:nvPr/>
        </p:nvSpPr>
        <p:spPr>
          <a:xfrm>
            <a:off x="1295536" y="6294297"/>
            <a:ext cx="4252664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KR" sz="2700" dirty="0"/>
              <a:t>4. </a:t>
            </a:r>
            <a:r>
              <a:rPr lang="en-US" sz="2700" dirty="0"/>
              <a:t>C</a:t>
            </a:r>
            <a:r>
              <a:rPr lang="en-KR" sz="2700" dirty="0"/>
              <a:t>alculate each key range </a:t>
            </a:r>
            <a:r>
              <a:rPr lang="en-US" sz="2700" dirty="0"/>
              <a:t>and send them back to each worker</a:t>
            </a:r>
            <a:endParaRPr lang="en-KR" sz="27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7AE372D-D298-DFF2-3DFB-FEBA13438E9A}"/>
              </a:ext>
            </a:extLst>
          </p:cNvPr>
          <p:cNvSpPr txBox="1"/>
          <p:nvPr/>
        </p:nvSpPr>
        <p:spPr>
          <a:xfrm>
            <a:off x="14035337" y="4794311"/>
            <a:ext cx="42526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700" dirty="0">
                <a:solidFill>
                  <a:schemeClr val="accent5"/>
                </a:solidFill>
              </a:rPr>
              <a:t>5. sorting</a:t>
            </a:r>
            <a:endParaRPr lang="en-KR" sz="2700" dirty="0">
              <a:solidFill>
                <a:schemeClr val="accent5"/>
              </a:solidFill>
            </a:endParaRPr>
          </a:p>
        </p:txBody>
      </p:sp>
      <p:sp>
        <p:nvSpPr>
          <p:cNvPr id="45" name="Up-Down Arrow 44">
            <a:extLst>
              <a:ext uri="{FF2B5EF4-FFF2-40B4-BE49-F238E27FC236}">
                <a16:creationId xmlns:a16="http://schemas.microsoft.com/office/drawing/2014/main" id="{2DA282A3-00B8-E103-CD57-4AB010E1CB7A}"/>
              </a:ext>
            </a:extLst>
          </p:cNvPr>
          <p:cNvSpPr/>
          <p:nvPr/>
        </p:nvSpPr>
        <p:spPr>
          <a:xfrm>
            <a:off x="13891187" y="3231332"/>
            <a:ext cx="383274" cy="1222289"/>
          </a:xfrm>
          <a:prstGeom prst="upDownArrow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2700"/>
          </a:p>
        </p:txBody>
      </p:sp>
      <p:sp>
        <p:nvSpPr>
          <p:cNvPr id="46" name="Up-Down Arrow 45">
            <a:extLst>
              <a:ext uri="{FF2B5EF4-FFF2-40B4-BE49-F238E27FC236}">
                <a16:creationId xmlns:a16="http://schemas.microsoft.com/office/drawing/2014/main" id="{43BA9531-4ACE-338A-5D93-9B061A6C2E4B}"/>
              </a:ext>
            </a:extLst>
          </p:cNvPr>
          <p:cNvSpPr/>
          <p:nvPr/>
        </p:nvSpPr>
        <p:spPr>
          <a:xfrm>
            <a:off x="13891187" y="6033059"/>
            <a:ext cx="383274" cy="1222289"/>
          </a:xfrm>
          <a:prstGeom prst="upDownArrow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2700"/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95C8EAC9-06E0-99E8-6118-051DB104C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Overall Flow</a:t>
            </a:r>
          </a:p>
        </p:txBody>
      </p:sp>
    </p:spTree>
    <p:extLst>
      <p:ext uri="{BB962C8B-B14F-4D97-AF65-F5344CB8AC3E}">
        <p14:creationId xmlns:p14="http://schemas.microsoft.com/office/powerpoint/2010/main" val="2062556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/>
      <p:bldP spid="31" grpId="0"/>
      <p:bldP spid="38" grpId="0" animBg="1"/>
      <p:bldP spid="39" grpId="0" animBg="1"/>
      <p:bldP spid="40" grpId="0" animBg="1"/>
      <p:bldP spid="41" grpId="0"/>
      <p:bldP spid="42" grpId="0"/>
      <p:bldP spid="43" grpId="0"/>
      <p:bldP spid="43" grpId="1"/>
      <p:bldP spid="45" grpId="0" animBg="1"/>
      <p:bldP spid="4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E7098-D80E-6CAD-CCFE-CAD2AE2D3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Master </a:t>
            </a:r>
            <a:r>
              <a:rPr lang="en-US" dirty="0"/>
              <a:t>Design - abstraction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0E0A4-426C-B247-A31B-0E1C66B33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Master – Worker </a:t>
            </a:r>
            <a:r>
              <a:rPr lang="en-US" dirty="0"/>
              <a:t>= </a:t>
            </a:r>
            <a:r>
              <a:rPr lang="en-US" i="1" dirty="0"/>
              <a:t>kernel – user program</a:t>
            </a:r>
            <a:endParaRPr lang="en-KR" i="1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84A6F6E-92D9-568E-DCF7-CDBFAFD1874E}"/>
              </a:ext>
            </a:extLst>
          </p:cNvPr>
          <p:cNvSpPr/>
          <p:nvPr/>
        </p:nvSpPr>
        <p:spPr>
          <a:xfrm>
            <a:off x="1257301" y="5432029"/>
            <a:ext cx="4085561" cy="19883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00" dirty="0"/>
              <a:t>master</a:t>
            </a:r>
            <a:endParaRPr lang="en-KR" sz="27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820746D-7209-B86F-96C3-948D995EEC26}"/>
              </a:ext>
            </a:extLst>
          </p:cNvPr>
          <p:cNvSpPr/>
          <p:nvPr/>
        </p:nvSpPr>
        <p:spPr>
          <a:xfrm>
            <a:off x="12998305" y="2739638"/>
            <a:ext cx="2169041" cy="2169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sz="2700" dirty="0"/>
              <a:t>worker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641653D-CEAB-5771-5DB6-7E118964A274}"/>
              </a:ext>
            </a:extLst>
          </p:cNvPr>
          <p:cNvCxnSpPr>
            <a:stCxn id="5" idx="2"/>
            <a:endCxn id="4" idx="3"/>
          </p:cNvCxnSpPr>
          <p:nvPr/>
        </p:nvCxnSpPr>
        <p:spPr>
          <a:xfrm flipH="1">
            <a:off x="5342861" y="3824159"/>
            <a:ext cx="7655444" cy="26020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95F18EF-2F2A-7193-E774-FFB39B17BB29}"/>
              </a:ext>
            </a:extLst>
          </p:cNvPr>
          <p:cNvSpPr txBox="1"/>
          <p:nvPr/>
        </p:nvSpPr>
        <p:spPr>
          <a:xfrm>
            <a:off x="7327901" y="4394201"/>
            <a:ext cx="271119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dirty="0"/>
              <a:t>D</a:t>
            </a:r>
            <a:r>
              <a:rPr lang="en-KR" sz="2700" dirty="0"/>
              <a:t>isk overflow</a:t>
            </a:r>
          </a:p>
          <a:p>
            <a:r>
              <a:rPr lang="en-US" sz="2700" dirty="0"/>
              <a:t>M</a:t>
            </a:r>
            <a:r>
              <a:rPr lang="en-KR" sz="2700" dirty="0"/>
              <a:t>emory overflow</a:t>
            </a:r>
          </a:p>
          <a:p>
            <a:r>
              <a:rPr lang="en-US" sz="2700" dirty="0"/>
              <a:t>P</a:t>
            </a:r>
            <a:r>
              <a:rPr lang="en-KR" sz="2700" dirty="0"/>
              <a:t>rogram fail</a:t>
            </a:r>
          </a:p>
          <a:p>
            <a:r>
              <a:rPr lang="en-KR" sz="2700" dirty="0"/>
              <a:t>…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6C1770F-1604-4902-58F0-32BC1CF96020}"/>
              </a:ext>
            </a:extLst>
          </p:cNvPr>
          <p:cNvGraphicFramePr>
            <a:graphicFrameLocks noGrp="1"/>
          </p:cNvGraphicFramePr>
          <p:nvPr/>
        </p:nvGraphicFramePr>
        <p:xfrm>
          <a:off x="4483100" y="7070885"/>
          <a:ext cx="4533900" cy="21945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266950">
                  <a:extLst>
                    <a:ext uri="{9D8B030D-6E8A-4147-A177-3AD203B41FA5}">
                      <a16:colId xmlns:a16="http://schemas.microsoft.com/office/drawing/2014/main" val="3181962596"/>
                    </a:ext>
                  </a:extLst>
                </a:gridCol>
                <a:gridCol w="2266950">
                  <a:extLst>
                    <a:ext uri="{9D8B030D-6E8A-4147-A177-3AD203B41FA5}">
                      <a16:colId xmlns:a16="http://schemas.microsoft.com/office/drawing/2014/main" val="1187806297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KR" sz="2700" b="0" dirty="0"/>
                        <a:t>0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0" dirty="0"/>
                        <a:t>handler</a:t>
                      </a:r>
                      <a:r>
                        <a:rPr lang="en-KR" sz="2700" b="0" dirty="0"/>
                        <a:t> 0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250637835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KR" sz="2700" b="0" dirty="0"/>
                        <a:t>1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0" dirty="0"/>
                        <a:t>handler</a:t>
                      </a:r>
                      <a:r>
                        <a:rPr lang="en-KR" sz="2700" b="0" dirty="0"/>
                        <a:t> 1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71615192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KR" sz="2700" b="0" dirty="0"/>
                        <a:t>…</a:t>
                      </a:r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2700" b="0" dirty="0"/>
                        <a:t>…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26690557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US" sz="2700" b="0" dirty="0"/>
                        <a:t>n</a:t>
                      </a:r>
                      <a:endParaRPr lang="en-KR" sz="2700" b="0" dirty="0"/>
                    </a:p>
                  </a:txBody>
                  <a:tcPr marL="137160" marR="137160" marT="68580" marB="6858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700" b="0" dirty="0"/>
                        <a:t>handler</a:t>
                      </a:r>
                      <a:r>
                        <a:rPr lang="en-KR" sz="2700" b="0" dirty="0"/>
                        <a:t> n</a:t>
                      </a:r>
                    </a:p>
                  </a:txBody>
                  <a:tcPr marL="137160" marR="137160" marT="68580" marB="68580"/>
                </a:tc>
                <a:extLst>
                  <a:ext uri="{0D108BD9-81ED-4DB2-BD59-A6C34878D82A}">
                    <a16:rowId xmlns:a16="http://schemas.microsoft.com/office/drawing/2014/main" val="545729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4519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9D3BF-D6DD-386D-201C-20F1F64D2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Current </a:t>
            </a:r>
            <a:r>
              <a:rPr lang="en-US" dirty="0"/>
              <a:t>Progress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47AC7-2B64-344E-177B-270FEEDC4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R" dirty="0"/>
              <a:t>ZIO gRPC communication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1DC192-1606-1289-A8DE-6EF3D3FCC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0" y="3473349"/>
            <a:ext cx="9525000" cy="25285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D068AF-411C-0B4A-0C0D-5978B3FE5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6180452"/>
            <a:ext cx="9525000" cy="248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501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890A9-16A9-4DAB-A330-65BA6E36B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7A58C-9E62-EAA8-A90E-F602DD59F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R" dirty="0"/>
              <a:t>Master Plan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833590-9F32-19CD-C3D4-C2CC91B6CEC1}"/>
              </a:ext>
            </a:extLst>
          </p:cNvPr>
          <p:cNvSpPr txBox="1"/>
          <p:nvPr/>
        </p:nvSpPr>
        <p:spPr>
          <a:xfrm>
            <a:off x="1046023" y="2695617"/>
            <a:ext cx="76531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28625" indent="-428625">
              <a:buFontTx/>
              <a:buChar char="-"/>
            </a:pPr>
            <a:r>
              <a:rPr lang="en-US" sz="2700" b="1" dirty="0">
                <a:solidFill>
                  <a:srgbClr val="FF0000"/>
                </a:solidFill>
              </a:rPr>
              <a:t>Implement some message structures in proto file</a:t>
            </a:r>
          </a:p>
          <a:p>
            <a:pPr marL="428625" indent="-428625">
              <a:buFontTx/>
              <a:buChar char="-"/>
            </a:pPr>
            <a:r>
              <a:rPr lang="en-US" sz="2700" b="1" dirty="0">
                <a:solidFill>
                  <a:srgbClr val="FF0000"/>
                </a:solidFill>
              </a:rPr>
              <a:t>Implement error handling logic</a:t>
            </a:r>
            <a:endParaRPr lang="en-KR" sz="2700" b="1" dirty="0">
              <a:solidFill>
                <a:srgbClr val="FF0000"/>
              </a:solidFill>
            </a:endParaRPr>
          </a:p>
        </p:txBody>
      </p:sp>
      <p:pic>
        <p:nvPicPr>
          <p:cNvPr id="12" name="Picture 11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9B1ECC24-A3A0-8DFD-CEC8-97527AC06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022" y="3665114"/>
            <a:ext cx="8097978" cy="4031088"/>
          </a:xfrm>
          <a:prstGeom prst="rect">
            <a:avLst/>
          </a:prstGeom>
        </p:spPr>
      </p:pic>
      <p:pic>
        <p:nvPicPr>
          <p:cNvPr id="14" name="Picture 13" descr="A diagram of a workflow&#10;&#10;AI-generated content may be incorrect.">
            <a:extLst>
              <a:ext uri="{FF2B5EF4-FFF2-40B4-BE49-F238E27FC236}">
                <a16:creationId xmlns:a16="http://schemas.microsoft.com/office/drawing/2014/main" id="{E0AF1C67-3A71-A520-CD32-2880AB911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0301" y="3673846"/>
            <a:ext cx="6845300" cy="36294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D9BC214-6920-1C12-583B-21EBEED1D4B1}"/>
              </a:ext>
            </a:extLst>
          </p:cNvPr>
          <p:cNvSpPr txBox="1"/>
          <p:nvPr/>
        </p:nvSpPr>
        <p:spPr>
          <a:xfrm>
            <a:off x="9732823" y="2695617"/>
            <a:ext cx="76531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28625" indent="-428625">
              <a:buFontTx/>
              <a:buChar char="-"/>
            </a:pPr>
            <a:r>
              <a:rPr lang="en-US" sz="2700" b="1" dirty="0">
                <a:solidFill>
                  <a:srgbClr val="FF0000"/>
                </a:solidFill>
              </a:rPr>
              <a:t>Implement some message structures in proto file</a:t>
            </a:r>
          </a:p>
          <a:p>
            <a:pPr marL="428625" indent="-428625">
              <a:buFontTx/>
              <a:buChar char="-"/>
            </a:pPr>
            <a:r>
              <a:rPr lang="en-US" sz="2700" b="1" dirty="0">
                <a:solidFill>
                  <a:srgbClr val="FF0000"/>
                </a:solidFill>
              </a:rPr>
              <a:t>Implement sampling logic</a:t>
            </a:r>
            <a:endParaRPr lang="en-KR" sz="27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963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F56AD0E-7B14-F1B7-DAA2-34A034E509CC}"/>
              </a:ext>
            </a:extLst>
          </p:cNvPr>
          <p:cNvSpPr/>
          <p:nvPr/>
        </p:nvSpPr>
        <p:spPr>
          <a:xfrm>
            <a:off x="6202687" y="1606132"/>
            <a:ext cx="4239312" cy="3036470"/>
          </a:xfrm>
          <a:prstGeom prst="roundRect">
            <a:avLst>
              <a:gd name="adj" fmla="val 1308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EB63CFC-CAA2-9E98-9495-52E356BC0F25}"/>
              </a:ext>
            </a:extLst>
          </p:cNvPr>
          <p:cNvSpPr/>
          <p:nvPr/>
        </p:nvSpPr>
        <p:spPr>
          <a:xfrm>
            <a:off x="11504856" y="1352119"/>
            <a:ext cx="4560936" cy="6823757"/>
          </a:xfrm>
          <a:prstGeom prst="roundRect">
            <a:avLst>
              <a:gd name="adj" fmla="val 8906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EBAE5D3-1CAC-029C-D557-9AFF299C803B}"/>
              </a:ext>
            </a:extLst>
          </p:cNvPr>
          <p:cNvSpPr/>
          <p:nvPr/>
        </p:nvSpPr>
        <p:spPr>
          <a:xfrm>
            <a:off x="5176683" y="952500"/>
            <a:ext cx="11739717" cy="7625268"/>
          </a:xfrm>
          <a:prstGeom prst="roundRect">
            <a:avLst>
              <a:gd name="adj" fmla="val 1308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C17467-D8B1-5AEB-954A-CDAFFEFAB05D}"/>
              </a:ext>
            </a:extLst>
          </p:cNvPr>
          <p:cNvSpPr txBox="1"/>
          <p:nvPr/>
        </p:nvSpPr>
        <p:spPr>
          <a:xfrm>
            <a:off x="9735944" y="609451"/>
            <a:ext cx="2551473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200" dirty="0">
                <a:latin typeface="Aptos Display" panose="020B0004020202020204" pitchFamily="34" charset="0"/>
              </a:rPr>
              <a:t>Worker 1</a:t>
            </a:r>
            <a:endParaRPr lang="ko-KR" altLang="en-US" sz="2700" dirty="0">
              <a:latin typeface="Aptos Display" panose="020B000402020202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ADAED13-15D1-90A6-1540-9AA81355447C}"/>
              </a:ext>
            </a:extLst>
          </p:cNvPr>
          <p:cNvSpPr/>
          <p:nvPr/>
        </p:nvSpPr>
        <p:spPr>
          <a:xfrm>
            <a:off x="11867115" y="2160235"/>
            <a:ext cx="3836423" cy="147904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dirty="0">
                <a:latin typeface="Aptos Display" panose="020B0004020202020204" pitchFamily="34" charset="0"/>
              </a:rPr>
              <a:t>Input data</a:t>
            </a:r>
            <a:endParaRPr lang="ko-KR" altLang="en-US" sz="2700" dirty="0">
              <a:latin typeface="Aptos Display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4CC956-1733-C218-2846-E5764CC01711}"/>
              </a:ext>
            </a:extLst>
          </p:cNvPr>
          <p:cNvSpPr txBox="1"/>
          <p:nvPr/>
        </p:nvSpPr>
        <p:spPr>
          <a:xfrm>
            <a:off x="13330635" y="1456829"/>
            <a:ext cx="81464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solidFill>
                  <a:schemeClr val="bg1"/>
                </a:solidFill>
                <a:latin typeface="Aptos Display" panose="020B0004020202020204" pitchFamily="34" charset="0"/>
              </a:rPr>
              <a:t>disk</a:t>
            </a:r>
            <a:endParaRPr lang="ko-KR" altLang="en-US" sz="30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1881D22-44EF-8992-6EDB-F1DF53DFF6BB}"/>
              </a:ext>
            </a:extLst>
          </p:cNvPr>
          <p:cNvSpPr/>
          <p:nvPr/>
        </p:nvSpPr>
        <p:spPr>
          <a:xfrm>
            <a:off x="11867115" y="3742195"/>
            <a:ext cx="3836423" cy="47774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Worker 1 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DEA7143-26E5-5D75-F104-B88BDF5D79C6}"/>
              </a:ext>
            </a:extLst>
          </p:cNvPr>
          <p:cNvSpPr/>
          <p:nvPr/>
        </p:nvSpPr>
        <p:spPr>
          <a:xfrm>
            <a:off x="11867112" y="4330285"/>
            <a:ext cx="3836423" cy="47774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Worker 2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55C3C4A-5A3E-275B-2045-A7E67A9EB499}"/>
              </a:ext>
            </a:extLst>
          </p:cNvPr>
          <p:cNvSpPr/>
          <p:nvPr/>
        </p:nvSpPr>
        <p:spPr>
          <a:xfrm>
            <a:off x="11867111" y="5811289"/>
            <a:ext cx="3836423" cy="47774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Worker 20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2218C7-4CCA-7E13-1B56-6D847D294606}"/>
              </a:ext>
            </a:extLst>
          </p:cNvPr>
          <p:cNvSpPr txBox="1"/>
          <p:nvPr/>
        </p:nvSpPr>
        <p:spPr>
          <a:xfrm rot="5400000">
            <a:off x="13582443" y="5037739"/>
            <a:ext cx="66556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b="1" dirty="0">
                <a:solidFill>
                  <a:schemeClr val="bg1"/>
                </a:solidFill>
              </a:rPr>
              <a:t>. . .</a:t>
            </a:r>
            <a:endParaRPr lang="ko-KR" altLang="en-US" sz="3000" b="1" dirty="0">
              <a:solidFill>
                <a:schemeClr val="bg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1DA388E-33E2-3782-2246-B4865B72E89F}"/>
              </a:ext>
            </a:extLst>
          </p:cNvPr>
          <p:cNvSpPr/>
          <p:nvPr/>
        </p:nvSpPr>
        <p:spPr>
          <a:xfrm>
            <a:off x="1463081" y="5117324"/>
            <a:ext cx="2959910" cy="1050837"/>
          </a:xfrm>
          <a:prstGeom prst="roundRect">
            <a:avLst/>
          </a:prstGeom>
          <a:noFill/>
          <a:ln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dirty="0">
                <a:solidFill>
                  <a:schemeClr val="tx1"/>
                </a:solidFill>
              </a:rPr>
              <a:t>Master</a:t>
            </a:r>
            <a:endParaRPr lang="ko-KR" altLang="en-US" sz="2700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D576BBB1-7C29-9A46-E70E-194DCACA804A}"/>
              </a:ext>
            </a:extLst>
          </p:cNvPr>
          <p:cNvSpPr/>
          <p:nvPr/>
        </p:nvSpPr>
        <p:spPr>
          <a:xfrm>
            <a:off x="12435270" y="8969463"/>
            <a:ext cx="2959910" cy="1050837"/>
          </a:xfrm>
          <a:prstGeom prst="roundRect">
            <a:avLst>
              <a:gd name="adj" fmla="val 1308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dirty="0">
                <a:solidFill>
                  <a:schemeClr val="tx1"/>
                </a:solidFill>
              </a:rPr>
              <a:t>Worker 20</a:t>
            </a:r>
            <a:endParaRPr lang="ko-KR" altLang="en-US" sz="2700" dirty="0">
              <a:solidFill>
                <a:schemeClr val="tx1"/>
              </a:solidFill>
            </a:endParaRPr>
          </a:p>
        </p:txBody>
      </p:sp>
      <p:pic>
        <p:nvPicPr>
          <p:cNvPr id="1026" name="Picture 2" descr="정렬 - 무료 ui개 아이콘">
            <a:extLst>
              <a:ext uri="{FF2B5EF4-FFF2-40B4-BE49-F238E27FC236}">
                <a16:creationId xmlns:a16="http://schemas.microsoft.com/office/drawing/2014/main" id="{8575AA38-E128-3F49-933F-A447B22878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066"/>
          <a:stretch>
            <a:fillRect/>
          </a:stretch>
        </p:blipFill>
        <p:spPr bwMode="auto">
          <a:xfrm>
            <a:off x="6648638" y="1565179"/>
            <a:ext cx="3406646" cy="2961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1A08C38-C98A-E792-2608-FFF503709C2F}"/>
              </a:ext>
            </a:extLst>
          </p:cNvPr>
          <p:cNvSpPr txBox="1"/>
          <p:nvPr/>
        </p:nvSpPr>
        <p:spPr>
          <a:xfrm>
            <a:off x="6524414" y="1218931"/>
            <a:ext cx="3661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atin typeface="Aptos Display" panose="020B0004020202020204" pitchFamily="34" charset="0"/>
              </a:rPr>
              <a:t>Sorting Algorithm</a:t>
            </a:r>
            <a:endParaRPr lang="ko-KR" altLang="en-US" sz="2400" dirty="0">
              <a:latin typeface="Aptos Display" panose="020B0004020202020204" pitchFamily="34" charset="0"/>
            </a:endParaRPr>
          </a:p>
        </p:txBody>
      </p:sp>
      <p:cxnSp>
        <p:nvCxnSpPr>
          <p:cNvPr id="44" name="연결선: 구부러짐 43">
            <a:extLst>
              <a:ext uri="{FF2B5EF4-FFF2-40B4-BE49-F238E27FC236}">
                <a16:creationId xmlns:a16="http://schemas.microsoft.com/office/drawing/2014/main" id="{CF512DA3-7AB6-B946-A38B-192EA7AE2C9B}"/>
              </a:ext>
            </a:extLst>
          </p:cNvPr>
          <p:cNvCxnSpPr>
            <a:cxnSpLocks/>
            <a:stCxn id="7" idx="1"/>
            <a:endCxn id="28" idx="3"/>
          </p:cNvCxnSpPr>
          <p:nvPr/>
        </p:nvCxnSpPr>
        <p:spPr>
          <a:xfrm rot="10800000" flipV="1">
            <a:off x="10442001" y="2899754"/>
            <a:ext cx="1425116" cy="224612"/>
          </a:xfrm>
          <a:prstGeom prst="curvedConnector3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6" name="연결선: 구부러짐 1045">
            <a:extLst>
              <a:ext uri="{FF2B5EF4-FFF2-40B4-BE49-F238E27FC236}">
                <a16:creationId xmlns:a16="http://schemas.microsoft.com/office/drawing/2014/main" id="{4D54E85B-F582-656F-4AAE-5F065EE0EBEF}"/>
              </a:ext>
            </a:extLst>
          </p:cNvPr>
          <p:cNvCxnSpPr>
            <a:stCxn id="16" idx="3"/>
            <a:endCxn id="28" idx="1"/>
          </p:cNvCxnSpPr>
          <p:nvPr/>
        </p:nvCxnSpPr>
        <p:spPr>
          <a:xfrm flipV="1">
            <a:off x="4422991" y="3124367"/>
            <a:ext cx="1779696" cy="2518376"/>
          </a:xfrm>
          <a:prstGeom prst="curvedConnector3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47" name="직사각형 1046">
            <a:extLst>
              <a:ext uri="{FF2B5EF4-FFF2-40B4-BE49-F238E27FC236}">
                <a16:creationId xmlns:a16="http://schemas.microsoft.com/office/drawing/2014/main" id="{8625605C-A1D4-A781-F758-BE027437D060}"/>
              </a:ext>
            </a:extLst>
          </p:cNvPr>
          <p:cNvSpPr/>
          <p:nvPr/>
        </p:nvSpPr>
        <p:spPr>
          <a:xfrm>
            <a:off x="11867109" y="6384283"/>
            <a:ext cx="3836423" cy="147904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dirty="0">
                <a:latin typeface="Aptos Display" panose="020B0004020202020204" pitchFamily="34" charset="0"/>
              </a:rPr>
              <a:t>Output data</a:t>
            </a:r>
            <a:endParaRPr lang="ko-KR" altLang="en-US" sz="2700" dirty="0">
              <a:latin typeface="Aptos Display" panose="020B0004020202020204" pitchFamily="34" charset="0"/>
            </a:endParaRPr>
          </a:p>
        </p:txBody>
      </p:sp>
      <p:sp>
        <p:nvSpPr>
          <p:cNvPr id="1053" name="사각형: 둥근 모서리 1052">
            <a:extLst>
              <a:ext uri="{FF2B5EF4-FFF2-40B4-BE49-F238E27FC236}">
                <a16:creationId xmlns:a16="http://schemas.microsoft.com/office/drawing/2014/main" id="{34794977-44E8-6C1C-5400-5B29CB7A97D9}"/>
              </a:ext>
            </a:extLst>
          </p:cNvPr>
          <p:cNvSpPr/>
          <p:nvPr/>
        </p:nvSpPr>
        <p:spPr>
          <a:xfrm>
            <a:off x="6480168" y="8969463"/>
            <a:ext cx="2959910" cy="1050837"/>
          </a:xfrm>
          <a:prstGeom prst="roundRect">
            <a:avLst>
              <a:gd name="adj" fmla="val 1308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700" dirty="0">
                <a:solidFill>
                  <a:schemeClr val="tx1"/>
                </a:solidFill>
              </a:rPr>
              <a:t>Worker 2</a:t>
            </a:r>
            <a:endParaRPr lang="ko-KR" altLang="en-US" sz="2700" dirty="0">
              <a:solidFill>
                <a:schemeClr val="tx1"/>
              </a:solidFill>
            </a:endParaRPr>
          </a:p>
        </p:txBody>
      </p:sp>
      <p:sp>
        <p:nvSpPr>
          <p:cNvPr id="1054" name="사각형: 둥근 모서리 1053">
            <a:extLst>
              <a:ext uri="{FF2B5EF4-FFF2-40B4-BE49-F238E27FC236}">
                <a16:creationId xmlns:a16="http://schemas.microsoft.com/office/drawing/2014/main" id="{51FE1A14-D5F4-F567-59D1-610CC7BDE7AF}"/>
              </a:ext>
            </a:extLst>
          </p:cNvPr>
          <p:cNvSpPr/>
          <p:nvPr/>
        </p:nvSpPr>
        <p:spPr>
          <a:xfrm>
            <a:off x="9829797" y="8964969"/>
            <a:ext cx="370454" cy="1050837"/>
          </a:xfrm>
          <a:prstGeom prst="roundRect">
            <a:avLst>
              <a:gd name="adj" fmla="val 1308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/>
              </a:solidFill>
            </a:endParaRP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9E8525B7-E348-E674-DAEF-3DD3F082E029}"/>
              </a:ext>
            </a:extLst>
          </p:cNvPr>
          <p:cNvSpPr txBox="1"/>
          <p:nvPr/>
        </p:nvSpPr>
        <p:spPr>
          <a:xfrm>
            <a:off x="10863629" y="9114108"/>
            <a:ext cx="66556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b="1" dirty="0"/>
              <a:t>. . .</a:t>
            </a:r>
            <a:endParaRPr lang="ko-KR" altLang="en-US" sz="3000" b="1" dirty="0"/>
          </a:p>
        </p:txBody>
      </p:sp>
      <p:pic>
        <p:nvPicPr>
          <p:cNvPr id="1060" name="Picture 6" descr="git pull과 git merge 비교">
            <a:extLst>
              <a:ext uri="{FF2B5EF4-FFF2-40B4-BE49-F238E27FC236}">
                <a16:creationId xmlns:a16="http://schemas.microsoft.com/office/drawing/2014/main" id="{8573909C-5E72-535A-C0D9-475ED2BD8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6865338" y="5234466"/>
            <a:ext cx="2853762" cy="2853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2" name="사각형: 둥근 모서리 1061">
            <a:extLst>
              <a:ext uri="{FF2B5EF4-FFF2-40B4-BE49-F238E27FC236}">
                <a16:creationId xmlns:a16="http://schemas.microsoft.com/office/drawing/2014/main" id="{1EF32E6D-5F3F-D73F-8507-03D13280B725}"/>
              </a:ext>
            </a:extLst>
          </p:cNvPr>
          <p:cNvSpPr/>
          <p:nvPr/>
        </p:nvSpPr>
        <p:spPr>
          <a:xfrm>
            <a:off x="6194101" y="5050912"/>
            <a:ext cx="4239312" cy="3036470"/>
          </a:xfrm>
          <a:prstGeom prst="roundRect">
            <a:avLst>
              <a:gd name="adj" fmla="val 1308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063" name="TextBox 1062">
            <a:extLst>
              <a:ext uri="{FF2B5EF4-FFF2-40B4-BE49-F238E27FC236}">
                <a16:creationId xmlns:a16="http://schemas.microsoft.com/office/drawing/2014/main" id="{8BE6016C-4006-5855-9A96-BE27812E88CC}"/>
              </a:ext>
            </a:extLst>
          </p:cNvPr>
          <p:cNvSpPr txBox="1"/>
          <p:nvPr/>
        </p:nvSpPr>
        <p:spPr>
          <a:xfrm>
            <a:off x="7329192" y="4669336"/>
            <a:ext cx="1967564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atin typeface="Aptos Display" panose="020B0004020202020204" pitchFamily="34" charset="0"/>
              </a:rPr>
              <a:t>Merge</a:t>
            </a:r>
            <a:endParaRPr lang="ko-KR" altLang="en-US" sz="2400" dirty="0">
              <a:latin typeface="Aptos Display" panose="020B0004020202020204" pitchFamily="34" charset="0"/>
            </a:endParaRPr>
          </a:p>
        </p:txBody>
      </p:sp>
      <p:cxnSp>
        <p:nvCxnSpPr>
          <p:cNvPr id="1067" name="연결선: 구부러짐 1066">
            <a:extLst>
              <a:ext uri="{FF2B5EF4-FFF2-40B4-BE49-F238E27FC236}">
                <a16:creationId xmlns:a16="http://schemas.microsoft.com/office/drawing/2014/main" id="{105EA37D-4FE8-EE40-A157-CB92629E3BA3}"/>
              </a:ext>
            </a:extLst>
          </p:cNvPr>
          <p:cNvCxnSpPr>
            <a:cxnSpLocks/>
            <a:stCxn id="10" idx="1"/>
            <a:endCxn id="1062" idx="3"/>
          </p:cNvCxnSpPr>
          <p:nvPr/>
        </p:nvCxnSpPr>
        <p:spPr>
          <a:xfrm rot="10800000" flipV="1">
            <a:off x="10433415" y="3981065"/>
            <a:ext cx="1433702" cy="2588082"/>
          </a:xfrm>
          <a:prstGeom prst="curvedConnector3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9" name="연결선: 구부러짐 1068">
            <a:extLst>
              <a:ext uri="{FF2B5EF4-FFF2-40B4-BE49-F238E27FC236}">
                <a16:creationId xmlns:a16="http://schemas.microsoft.com/office/drawing/2014/main" id="{EE0E06F7-2A96-F10B-6A07-881C12605785}"/>
              </a:ext>
            </a:extLst>
          </p:cNvPr>
          <p:cNvCxnSpPr>
            <a:cxnSpLocks/>
            <a:stCxn id="1062" idx="1"/>
            <a:endCxn id="1047" idx="1"/>
          </p:cNvCxnSpPr>
          <p:nvPr/>
        </p:nvCxnSpPr>
        <p:spPr>
          <a:xfrm rot="10800000" flipH="1" flipV="1">
            <a:off x="6194100" y="6569146"/>
            <a:ext cx="5673008" cy="554657"/>
          </a:xfrm>
          <a:prstGeom prst="curvedConnector5">
            <a:avLst>
              <a:gd name="adj1" fmla="val -9684"/>
              <a:gd name="adj2" fmla="val 321229"/>
              <a:gd name="adj3" fmla="val 87364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C946AB8-E302-DAE5-810E-1B36BE9B6B12}"/>
              </a:ext>
            </a:extLst>
          </p:cNvPr>
          <p:cNvSpPr txBox="1"/>
          <p:nvPr/>
        </p:nvSpPr>
        <p:spPr>
          <a:xfrm>
            <a:off x="11011681" y="253558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2932DF-4C22-EFA9-8EEC-E55D776B19CE}"/>
              </a:ext>
            </a:extLst>
          </p:cNvPr>
          <p:cNvSpPr txBox="1"/>
          <p:nvPr/>
        </p:nvSpPr>
        <p:spPr>
          <a:xfrm>
            <a:off x="5392169" y="38538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cxnSp>
        <p:nvCxnSpPr>
          <p:cNvPr id="22" name="연결선: 구부러짐 21">
            <a:extLst>
              <a:ext uri="{FF2B5EF4-FFF2-40B4-BE49-F238E27FC236}">
                <a16:creationId xmlns:a16="http://schemas.microsoft.com/office/drawing/2014/main" id="{80B0557B-65B0-164E-958B-A5ADF5D3DEC0}"/>
              </a:ext>
            </a:extLst>
          </p:cNvPr>
          <p:cNvCxnSpPr>
            <a:cxnSpLocks/>
            <a:stCxn id="28" idx="3"/>
            <a:endCxn id="11" idx="1"/>
          </p:cNvCxnSpPr>
          <p:nvPr/>
        </p:nvCxnSpPr>
        <p:spPr>
          <a:xfrm>
            <a:off x="10441999" y="3124367"/>
            <a:ext cx="1425113" cy="1444788"/>
          </a:xfrm>
          <a:prstGeom prst="curvedConnector3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F633A61-08F6-2890-3E12-E1E17FD9F866}"/>
              </a:ext>
            </a:extLst>
          </p:cNvPr>
          <p:cNvSpPr txBox="1"/>
          <p:nvPr/>
        </p:nvSpPr>
        <p:spPr>
          <a:xfrm>
            <a:off x="11047564" y="31696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238D4A-4C7E-DD97-1A73-7B742A782CC5}"/>
              </a:ext>
            </a:extLst>
          </p:cNvPr>
          <p:cNvSpPr txBox="1"/>
          <p:nvPr/>
        </p:nvSpPr>
        <p:spPr>
          <a:xfrm>
            <a:off x="16090373" y="791794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182D90-3788-40CC-24CB-169B0D645518}"/>
              </a:ext>
            </a:extLst>
          </p:cNvPr>
          <p:cNvSpPr txBox="1"/>
          <p:nvPr/>
        </p:nvSpPr>
        <p:spPr>
          <a:xfrm>
            <a:off x="10790541" y="549929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0B30E3E-E4B1-BF04-025C-60166AC81D0D}"/>
              </a:ext>
            </a:extLst>
          </p:cNvPr>
          <p:cNvSpPr txBox="1"/>
          <p:nvPr/>
        </p:nvSpPr>
        <p:spPr>
          <a:xfrm>
            <a:off x="10639726" y="758785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6</a:t>
            </a:r>
            <a:endParaRPr lang="ko-KR" altLang="en-US" dirty="0"/>
          </a:p>
        </p:txBody>
      </p:sp>
      <p:cxnSp>
        <p:nvCxnSpPr>
          <p:cNvPr id="31" name="연결선: 구부러짐 30">
            <a:extLst>
              <a:ext uri="{FF2B5EF4-FFF2-40B4-BE49-F238E27FC236}">
                <a16:creationId xmlns:a16="http://schemas.microsoft.com/office/drawing/2014/main" id="{7B2142AC-A3C8-CC94-6F4A-224C6774F14C}"/>
              </a:ext>
            </a:extLst>
          </p:cNvPr>
          <p:cNvCxnSpPr>
            <a:stCxn id="1047" idx="3"/>
            <a:endCxn id="19" idx="3"/>
          </p:cNvCxnSpPr>
          <p:nvPr/>
        </p:nvCxnSpPr>
        <p:spPr>
          <a:xfrm flipH="1">
            <a:off x="15395180" y="7123804"/>
            <a:ext cx="308352" cy="2371078"/>
          </a:xfrm>
          <a:prstGeom prst="curvedConnector3">
            <a:avLst>
              <a:gd name="adj1" fmla="val -74136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C52BF79D-597B-3819-FB50-4E703FF808DE}"/>
              </a:ext>
            </a:extLst>
          </p:cNvPr>
          <p:cNvCxnSpPr>
            <a:stCxn id="19" idx="3"/>
            <a:endCxn id="10" idx="3"/>
          </p:cNvCxnSpPr>
          <p:nvPr/>
        </p:nvCxnSpPr>
        <p:spPr>
          <a:xfrm flipV="1">
            <a:off x="15395180" y="3981065"/>
            <a:ext cx="308358" cy="5513817"/>
          </a:xfrm>
          <a:prstGeom prst="curvedConnector3">
            <a:avLst>
              <a:gd name="adj1" fmla="val 451542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itle 1">
            <a:extLst>
              <a:ext uri="{FF2B5EF4-FFF2-40B4-BE49-F238E27FC236}">
                <a16:creationId xmlns:a16="http://schemas.microsoft.com/office/drawing/2014/main" id="{B569BF8D-42B5-4EC7-CC82-47E79E018506}"/>
              </a:ext>
            </a:extLst>
          </p:cNvPr>
          <p:cNvSpPr txBox="1">
            <a:spLocks/>
          </p:cNvSpPr>
          <p:nvPr/>
        </p:nvSpPr>
        <p:spPr>
          <a:xfrm>
            <a:off x="783798" y="676798"/>
            <a:ext cx="349837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dirty="0"/>
              <a:t>Worker</a:t>
            </a:r>
            <a:r>
              <a:rPr lang="en-KR" dirty="0"/>
              <a:t> </a:t>
            </a:r>
            <a:r>
              <a:rPr lang="en-US" dirty="0"/>
              <a:t>Design </a:t>
            </a:r>
          </a:p>
          <a:p>
            <a:pPr algn="r"/>
            <a:r>
              <a:rPr lang="en-US" dirty="0"/>
              <a:t>   - abstraction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850443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0509DC3-65EE-602B-6F1D-31E68B6659FA}"/>
              </a:ext>
            </a:extLst>
          </p:cNvPr>
          <p:cNvSpPr txBox="1">
            <a:spLocks/>
          </p:cNvSpPr>
          <p:nvPr/>
        </p:nvSpPr>
        <p:spPr>
          <a:xfrm>
            <a:off x="1066800" y="647700"/>
            <a:ext cx="952008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Worker</a:t>
            </a:r>
            <a:r>
              <a:rPr lang="en-KR" dirty="0"/>
              <a:t> </a:t>
            </a:r>
            <a:r>
              <a:rPr lang="en-US" dirty="0"/>
              <a:t>Design – Concurrent Programming</a:t>
            </a:r>
            <a:endParaRPr lang="en-KR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66F2629-C1E0-BE58-9764-40D5300CD394}"/>
              </a:ext>
            </a:extLst>
          </p:cNvPr>
          <p:cNvCxnSpPr/>
          <p:nvPr/>
        </p:nvCxnSpPr>
        <p:spPr>
          <a:xfrm>
            <a:off x="7340518" y="2765256"/>
            <a:ext cx="4572000" cy="64008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6C85BA60-A7F6-754B-2D24-5C3E356EA18C}"/>
              </a:ext>
            </a:extLst>
          </p:cNvPr>
          <p:cNvCxnSpPr>
            <a:cxnSpLocks/>
          </p:cNvCxnSpPr>
          <p:nvPr/>
        </p:nvCxnSpPr>
        <p:spPr>
          <a:xfrm>
            <a:off x="675968" y="8722159"/>
            <a:ext cx="9910916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E22144E-1643-EC48-1254-5F788EBA77D6}"/>
              </a:ext>
            </a:extLst>
          </p:cNvPr>
          <p:cNvSpPr/>
          <p:nvPr/>
        </p:nvSpPr>
        <p:spPr>
          <a:xfrm>
            <a:off x="1976284" y="5521759"/>
            <a:ext cx="988142" cy="53339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Read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683BC9-07F7-8E38-D681-73F4410B8D90}"/>
              </a:ext>
            </a:extLst>
          </p:cNvPr>
          <p:cNvSpPr txBox="1"/>
          <p:nvPr/>
        </p:nvSpPr>
        <p:spPr>
          <a:xfrm>
            <a:off x="680884" y="5588400"/>
            <a:ext cx="11045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Thread 1</a:t>
            </a:r>
            <a:endParaRPr lang="ko-KR" altLang="en-US" sz="2000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2CD278C-DF0E-01DF-3CCA-D65E228A9B80}"/>
              </a:ext>
            </a:extLst>
          </p:cNvPr>
          <p:cNvSpPr/>
          <p:nvPr/>
        </p:nvSpPr>
        <p:spPr>
          <a:xfrm>
            <a:off x="3195484" y="6321294"/>
            <a:ext cx="988142" cy="53339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Read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41B139-539C-02AF-6BCF-606150692312}"/>
              </a:ext>
            </a:extLst>
          </p:cNvPr>
          <p:cNvSpPr txBox="1"/>
          <p:nvPr/>
        </p:nvSpPr>
        <p:spPr>
          <a:xfrm>
            <a:off x="675968" y="6391099"/>
            <a:ext cx="11045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Thread 2</a:t>
            </a:r>
            <a:endParaRPr lang="ko-KR" altLang="en-US" sz="2000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88EB45F-A5D5-A736-DF33-8D161982C577}"/>
              </a:ext>
            </a:extLst>
          </p:cNvPr>
          <p:cNvSpPr/>
          <p:nvPr/>
        </p:nvSpPr>
        <p:spPr>
          <a:xfrm>
            <a:off x="4414684" y="7104977"/>
            <a:ext cx="988142" cy="53339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Read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E383C0-A86D-B00D-E156-55B6BC16E2FE}"/>
              </a:ext>
            </a:extLst>
          </p:cNvPr>
          <p:cNvSpPr txBox="1"/>
          <p:nvPr/>
        </p:nvSpPr>
        <p:spPr>
          <a:xfrm>
            <a:off x="680884" y="7171618"/>
            <a:ext cx="11045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Thread 3</a:t>
            </a:r>
            <a:endParaRPr lang="ko-KR" altLang="en-US" sz="2000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64BA1BA-3B1D-87D4-7244-E817F5DB5E63}"/>
              </a:ext>
            </a:extLst>
          </p:cNvPr>
          <p:cNvSpPr/>
          <p:nvPr/>
        </p:nvSpPr>
        <p:spPr>
          <a:xfrm>
            <a:off x="5633884" y="7909554"/>
            <a:ext cx="988142" cy="53339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Read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70C911-DEAF-5825-A321-1FE165395C6C}"/>
              </a:ext>
            </a:extLst>
          </p:cNvPr>
          <p:cNvSpPr txBox="1"/>
          <p:nvPr/>
        </p:nvSpPr>
        <p:spPr>
          <a:xfrm>
            <a:off x="680884" y="7985378"/>
            <a:ext cx="11045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Thread 4</a:t>
            </a:r>
            <a:endParaRPr lang="ko-KR" altLang="en-US" sz="2000" dirty="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6707F16-3FC6-1C19-9C53-C1662640352A}"/>
              </a:ext>
            </a:extLst>
          </p:cNvPr>
          <p:cNvSpPr/>
          <p:nvPr/>
        </p:nvSpPr>
        <p:spPr>
          <a:xfrm>
            <a:off x="3202858" y="5521759"/>
            <a:ext cx="988142" cy="53339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Sort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2DE43D4-D5FF-928B-8309-CBCFADA72645}"/>
              </a:ext>
            </a:extLst>
          </p:cNvPr>
          <p:cNvSpPr/>
          <p:nvPr/>
        </p:nvSpPr>
        <p:spPr>
          <a:xfrm>
            <a:off x="4414684" y="6321294"/>
            <a:ext cx="988142" cy="53339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Sort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7F5851F-73A7-BC2B-955A-13366C3F613F}"/>
              </a:ext>
            </a:extLst>
          </p:cNvPr>
          <p:cNvSpPr/>
          <p:nvPr/>
        </p:nvSpPr>
        <p:spPr>
          <a:xfrm>
            <a:off x="5633884" y="7104977"/>
            <a:ext cx="988142" cy="53339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Sort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E0D56B0-F3A8-8793-CEF4-A45295ED2769}"/>
              </a:ext>
            </a:extLst>
          </p:cNvPr>
          <p:cNvSpPr/>
          <p:nvPr/>
        </p:nvSpPr>
        <p:spPr>
          <a:xfrm>
            <a:off x="6853084" y="7909554"/>
            <a:ext cx="988142" cy="53339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Sort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94A0FA7-E7C9-3185-0D36-AEC006D22FD3}"/>
              </a:ext>
            </a:extLst>
          </p:cNvPr>
          <p:cNvSpPr/>
          <p:nvPr/>
        </p:nvSpPr>
        <p:spPr>
          <a:xfrm>
            <a:off x="4417142" y="5521759"/>
            <a:ext cx="988142" cy="53339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Partition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D69774A-1864-136D-9F93-E6D790CAF5F8}"/>
              </a:ext>
            </a:extLst>
          </p:cNvPr>
          <p:cNvSpPr/>
          <p:nvPr/>
        </p:nvSpPr>
        <p:spPr>
          <a:xfrm>
            <a:off x="5633884" y="6321294"/>
            <a:ext cx="988142" cy="53339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Partition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08E1A63-618D-FDDE-5519-72DEA62CA072}"/>
              </a:ext>
            </a:extLst>
          </p:cNvPr>
          <p:cNvSpPr/>
          <p:nvPr/>
        </p:nvSpPr>
        <p:spPr>
          <a:xfrm>
            <a:off x="6853084" y="7104977"/>
            <a:ext cx="988142" cy="53339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Partition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0C45076-45BC-150F-4892-D610278C224E}"/>
              </a:ext>
            </a:extLst>
          </p:cNvPr>
          <p:cNvSpPr/>
          <p:nvPr/>
        </p:nvSpPr>
        <p:spPr>
          <a:xfrm>
            <a:off x="8072284" y="7909554"/>
            <a:ext cx="988142" cy="53339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Partition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FEDA27A-4143-61DC-8C50-CFA224DA8CE1}"/>
              </a:ext>
            </a:extLst>
          </p:cNvPr>
          <p:cNvSpPr/>
          <p:nvPr/>
        </p:nvSpPr>
        <p:spPr>
          <a:xfrm>
            <a:off x="5636342" y="5521759"/>
            <a:ext cx="988142" cy="53339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Shuffle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371CE75C-9580-5144-A23E-4D6962495129}"/>
              </a:ext>
            </a:extLst>
          </p:cNvPr>
          <p:cNvSpPr/>
          <p:nvPr/>
        </p:nvSpPr>
        <p:spPr>
          <a:xfrm>
            <a:off x="6853084" y="6321294"/>
            <a:ext cx="988142" cy="53339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Shuffle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96A05A8-DDA1-D0F0-F901-5CBA8B4BA921}"/>
              </a:ext>
            </a:extLst>
          </p:cNvPr>
          <p:cNvSpPr/>
          <p:nvPr/>
        </p:nvSpPr>
        <p:spPr>
          <a:xfrm>
            <a:off x="8072284" y="7104977"/>
            <a:ext cx="988142" cy="53339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Shuffle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49D83AE0-E2AA-1B44-1DFA-7A9FEDFF27E1}"/>
              </a:ext>
            </a:extLst>
          </p:cNvPr>
          <p:cNvSpPr/>
          <p:nvPr/>
        </p:nvSpPr>
        <p:spPr>
          <a:xfrm>
            <a:off x="9291484" y="7909554"/>
            <a:ext cx="988142" cy="53339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Shuffle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7B7ECE49-3923-CF68-80B5-8519777134CF}"/>
              </a:ext>
            </a:extLst>
          </p:cNvPr>
          <p:cNvCxnSpPr>
            <a:cxnSpLocks/>
          </p:cNvCxnSpPr>
          <p:nvPr/>
        </p:nvCxnSpPr>
        <p:spPr>
          <a:xfrm>
            <a:off x="10279626" y="5755253"/>
            <a:ext cx="637277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2AD328F6-5A27-C3BA-723B-607A8394963B}"/>
              </a:ext>
            </a:extLst>
          </p:cNvPr>
          <p:cNvSpPr/>
          <p:nvPr/>
        </p:nvSpPr>
        <p:spPr>
          <a:xfrm>
            <a:off x="11579942" y="2554852"/>
            <a:ext cx="988142" cy="2959287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Read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3B99CA-7EC6-76CF-6312-D01C9E77A6E3}"/>
              </a:ext>
            </a:extLst>
          </p:cNvPr>
          <p:cNvSpPr txBox="1"/>
          <p:nvPr/>
        </p:nvSpPr>
        <p:spPr>
          <a:xfrm>
            <a:off x="10284542" y="2621494"/>
            <a:ext cx="11045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Thread 1</a:t>
            </a:r>
            <a:endParaRPr lang="ko-KR" altLang="en-US" sz="2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5D1238-9EDA-CDAF-874B-62B9DB110481}"/>
              </a:ext>
            </a:extLst>
          </p:cNvPr>
          <p:cNvSpPr txBox="1"/>
          <p:nvPr/>
        </p:nvSpPr>
        <p:spPr>
          <a:xfrm>
            <a:off x="10279626" y="3424193"/>
            <a:ext cx="11045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Thread 2</a:t>
            </a:r>
            <a:endParaRPr lang="ko-KR" altLang="en-US" sz="2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B070B6-F38D-FA9E-F173-B96ED5D56BD6}"/>
              </a:ext>
            </a:extLst>
          </p:cNvPr>
          <p:cNvSpPr txBox="1"/>
          <p:nvPr/>
        </p:nvSpPr>
        <p:spPr>
          <a:xfrm>
            <a:off x="10284542" y="4204712"/>
            <a:ext cx="11045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Thread 3</a:t>
            </a:r>
            <a:endParaRPr lang="ko-KR" altLang="en-US" sz="20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5A3562-ED5B-1D69-5998-01B828D5D85C}"/>
              </a:ext>
            </a:extLst>
          </p:cNvPr>
          <p:cNvSpPr txBox="1"/>
          <p:nvPr/>
        </p:nvSpPr>
        <p:spPr>
          <a:xfrm>
            <a:off x="10284542" y="5018472"/>
            <a:ext cx="11045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/>
              <a:t>Thread 4</a:t>
            </a:r>
            <a:endParaRPr lang="ko-KR" altLang="en-US" sz="2000" dirty="0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DF402B0-36C5-5052-623C-728EDD8345C4}"/>
              </a:ext>
            </a:extLst>
          </p:cNvPr>
          <p:cNvSpPr/>
          <p:nvPr/>
        </p:nvSpPr>
        <p:spPr>
          <a:xfrm>
            <a:off x="12806516" y="2554852"/>
            <a:ext cx="988142" cy="295928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Sort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AD502C08-1F52-ADC9-4276-EE6DCF73ABA0}"/>
              </a:ext>
            </a:extLst>
          </p:cNvPr>
          <p:cNvSpPr/>
          <p:nvPr/>
        </p:nvSpPr>
        <p:spPr>
          <a:xfrm>
            <a:off x="14020800" y="2554852"/>
            <a:ext cx="988142" cy="295928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Partition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5A979DA0-3F1A-F5F9-FBFA-DB5FC8F19B0B}"/>
              </a:ext>
            </a:extLst>
          </p:cNvPr>
          <p:cNvSpPr/>
          <p:nvPr/>
        </p:nvSpPr>
        <p:spPr>
          <a:xfrm>
            <a:off x="15240000" y="2554852"/>
            <a:ext cx="988142" cy="2959279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Shuffle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4033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369</Words>
  <Application>Microsoft Office PowerPoint</Application>
  <PresentationFormat>사용자 지정</PresentationFormat>
  <Paragraphs>124</Paragraphs>
  <Slides>12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Glacial Indifference</vt:lpstr>
      <vt:lpstr>Garet Light</vt:lpstr>
      <vt:lpstr>Aptos Display</vt:lpstr>
      <vt:lpstr>Arial</vt:lpstr>
      <vt:lpstr>윤고딕</vt:lpstr>
      <vt:lpstr>Calibri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Problem Definition</vt:lpstr>
      <vt:lpstr>Overall Flow</vt:lpstr>
      <vt:lpstr>Master Design - abstraction</vt:lpstr>
      <vt:lpstr>Current Progress</vt:lpstr>
      <vt:lpstr>Master Plan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Presentation</dc:title>
  <cp:lastModifiedBy>민혁 박</cp:lastModifiedBy>
  <cp:revision>27</cp:revision>
  <dcterms:created xsi:type="dcterms:W3CDTF">2006-08-16T00:00:00Z</dcterms:created>
  <dcterms:modified xsi:type="dcterms:W3CDTF">2025-11-18T16:00:43Z</dcterms:modified>
  <dc:identifier>DAG42wtYqJU</dc:identifier>
</cp:coreProperties>
</file>